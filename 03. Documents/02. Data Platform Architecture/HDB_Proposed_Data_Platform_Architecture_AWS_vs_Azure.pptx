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147481742" r:id="rId2"/>
    <p:sldId id="2147481743" r:id="rId3"/>
    <p:sldId id="257" r:id="rId4"/>
    <p:sldId id="2147481746" r:id="rId5"/>
    <p:sldId id="2147481738" r:id="rId6"/>
    <p:sldId id="2147481747" r:id="rId7"/>
    <p:sldId id="2147481745" r:id="rId8"/>
    <p:sldId id="214748174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B71"/>
    <a:srgbClr val="1CD0CD"/>
    <a:srgbClr val="1DD3CF"/>
    <a:srgbClr val="C8C8C8"/>
    <a:srgbClr val="0085FE"/>
    <a:srgbClr val="343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3" d="100"/>
          <a:sy n="93" d="100"/>
        </p:scale>
        <p:origin x="74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4AD7E5-3FF2-4605-BB17-04673A5747AD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4F1BB5-54EB-4C21-AA5E-F5BCF414A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28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4F1BB5-54EB-4C21-AA5E-F5BCF414A48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692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540F4-44CB-9DE3-C9DB-A4F0336A8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DB1A19-E4DE-AF51-FD1B-19884901A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986EE3-614A-5D52-1508-EB8AB5B1AC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A313D-A257-6940-625D-E4B8CD794D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DFB1B-604A-654A-B4FF-ECE7AF17C73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009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C2444-AE55-699A-1038-04B18C23C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E765C0-7A62-09A6-0859-61F525B569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EC395-0252-D8F0-70F3-6486DF91C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A2B4-A68F-42FF-A76E-D9CC306CBA6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5B98A-1D16-E5FA-67C9-EC81CF603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C6A0D-A9CD-4880-E84A-ADCFE00DE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FAAE-62C7-45CF-A413-0BAE56D04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647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13C1E-A73C-EB17-1444-521EC15D2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846A6-8073-B880-BCA4-F4976DB1B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D6949-72C4-E4AB-2B8D-93653311B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A2B4-A68F-42FF-A76E-D9CC306CBA6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32124-158B-BA2B-4E13-506158952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E0689-F088-70D0-E8A6-848DF7BD6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FAAE-62C7-45CF-A413-0BAE56D04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675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69A1E-A4CF-B259-AFCF-2EE5C6E1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F65B8-44EE-3EA0-7DC8-21780B975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07635-9E75-609C-9522-9A717578C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A2B4-A68F-42FF-A76E-D9CC306CBA6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0BC1B-7CE5-98EF-0460-85535E0E5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02D99-FB6F-E97A-F325-E62D31A89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FAAE-62C7-45CF-A413-0BAE56D04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205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1FE38-3067-669E-D96D-924F02180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9A997-F2A2-D67B-F2B8-7D8D8C95CA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0E856A-0BA2-2396-5237-313CF992B3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3127B8-6067-961A-AE03-2191E4923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A2B4-A68F-42FF-A76E-D9CC306CBA6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23AB2-782A-A381-1B8E-97A1F39D6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38E6DE-44B4-FDC5-4B45-A94E57BDE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FAAE-62C7-45CF-A413-0BAE56D04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014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04CF5-B19A-997A-7AC6-06CCAD4A0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41034-2E80-5A08-4CF5-0F72DD702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32C97-E5C4-4BAF-2DA2-47CB08AD5F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F8635B-A8FC-5978-598D-B45DA5F802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D9D129-FE94-C989-F06E-A5342639BA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DDBE3D-BA68-78FA-A5DE-98B8CC5BD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A2B4-A68F-42FF-A76E-D9CC306CBA6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54E4AC-2090-AB6C-E814-AE788F01A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FC78EB-CD8F-370F-D027-DE9F83068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FAAE-62C7-45CF-A413-0BAE56D04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977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99552-34D2-06C6-0D1E-768006B05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112C5A-7707-12BF-61FC-498D1B0C6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A2B4-A68F-42FF-A76E-D9CC306CBA6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4A4C56-E79C-CA15-066B-5238C4B2D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FB1E3A-67EB-F07E-5C40-915B0F84E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FAAE-62C7-45CF-A413-0BAE56D04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630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6EEE6E-A192-6B2F-F085-6D9C1B810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A2B4-A68F-42FF-A76E-D9CC306CBA6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BD1119-714C-E70C-1D2B-6DFB26F2B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D2C9B-56F9-FE67-E81D-D0EEBE3EA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FAAE-62C7-45CF-A413-0BAE56D04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27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B3A46-1921-79B7-5E1C-D61C69FDC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E3808-F04F-0C83-7072-1ADF18B9E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BCBF33-6170-0DC1-8D8D-0FE94758E7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7086B1-392E-5CE9-3D9B-FCCD9A61E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A2B4-A68F-42FF-A76E-D9CC306CBA6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51FD1E-74F0-8696-96ED-0EB56462C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200695-B438-60DA-3101-4C178172D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FAAE-62C7-45CF-A413-0BAE56D04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788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5B9A5-4CA6-CF48-911F-1A6C5B2E5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992B80-333B-2A15-43F2-00B11A0D98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F80A64-2E75-C04F-C7A9-010AB47FC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0E7E7E-0D8E-B409-6079-BA375D130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A2B4-A68F-42FF-A76E-D9CC306CBA6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79B597-85E9-CC0B-98D0-8C2932775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504127-D0EF-75F5-0470-E2F6DA69D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FAAE-62C7-45CF-A413-0BAE56D04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954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02444-1B9A-6DE9-1780-046131503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4223BE-64F1-FE7E-E8CD-F25882D1E1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35DD7-FBA8-D0F1-CE60-AC012ABF2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A2B4-A68F-42FF-A76E-D9CC306CBA6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CFDD8-F7EF-1852-ED1F-192914D22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8B478-A3C5-87E4-7F19-2C710E4B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FAAE-62C7-45CF-A413-0BAE56D04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03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DF5E28-F8EA-1D20-1253-97A6DA60F2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E3313C-0A9B-A323-26DF-820765E980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EC6AB-9C61-67CF-9997-80E1EB048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A2B4-A68F-42FF-A76E-D9CC306CBA6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0629A-BB73-7FAC-D8ED-5C7885BBA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55ACE-BA64-5CF5-B0F5-73C016B93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8FAAE-62C7-45CF-A413-0BAE56D04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1034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and Sub-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2CABD9-F1FB-1BB2-1626-0C1DFA7770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1170535"/>
            <a:ext cx="11430000" cy="446088"/>
          </a:xfrm>
        </p:spPr>
        <p:txBody>
          <a:bodyPr anchor="ctr"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Optional sub-head</a:t>
            </a:r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9613993-9D9F-5289-7DF2-83E3549E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466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8BB1E1-5370-518E-C1F3-E0D1CFCAA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D4B05-DE53-2AEB-6C25-EB16DD537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4AB90-7B8F-9288-0438-B5F964D53A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4A2B4-A68F-42FF-A76E-D9CC306CBA66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F9650-199C-DC86-EE0D-0657C3562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DB303-A508-D5A5-D651-9EFBF5DB8B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8FAAE-62C7-45CF-A413-0BAE56D04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139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svg"/><Relationship Id="rId21" Type="http://schemas.openxmlformats.org/officeDocument/2006/relationships/image" Target="../media/image19.svg"/><Relationship Id="rId34" Type="http://schemas.openxmlformats.org/officeDocument/2006/relationships/image" Target="../media/image32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svg"/><Relationship Id="rId41" Type="http://schemas.openxmlformats.org/officeDocument/2006/relationships/image" Target="../media/image3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svg"/><Relationship Id="rId40" Type="http://schemas.openxmlformats.org/officeDocument/2006/relationships/image" Target="../media/image38.pn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31" Type="http://schemas.openxmlformats.org/officeDocument/2006/relationships/image" Target="../media/image29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svg"/><Relationship Id="rId30" Type="http://schemas.openxmlformats.org/officeDocument/2006/relationships/image" Target="../media/image28.png"/><Relationship Id="rId35" Type="http://schemas.openxmlformats.org/officeDocument/2006/relationships/image" Target="../media/image33.sv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33" Type="http://schemas.openxmlformats.org/officeDocument/2006/relationships/image" Target="../media/image31.svg"/><Relationship Id="rId38" Type="http://schemas.openxmlformats.org/officeDocument/2006/relationships/image" Target="../media/image3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49.svg"/><Relationship Id="rId18" Type="http://schemas.openxmlformats.org/officeDocument/2006/relationships/image" Target="../media/image54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52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11" Type="http://schemas.openxmlformats.org/officeDocument/2006/relationships/image" Target="../media/image47.svg"/><Relationship Id="rId5" Type="http://schemas.openxmlformats.org/officeDocument/2006/relationships/image" Target="../media/image42.sv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19" Type="http://schemas.openxmlformats.org/officeDocument/2006/relationships/image" Target="../media/image8.png"/><Relationship Id="rId4" Type="http://schemas.openxmlformats.org/officeDocument/2006/relationships/image" Target="../media/image41.png"/><Relationship Id="rId9" Type="http://schemas.openxmlformats.org/officeDocument/2006/relationships/image" Target="../media/image9.png"/><Relationship Id="rId14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zure.microsoft.com/pricing/" TargetMode="External"/><Relationship Id="rId2" Type="http://schemas.openxmlformats.org/officeDocument/2006/relationships/hyperlink" Target="https://aws.amazon.com/pricing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100000">
              <a:srgbClr val="1DD3CF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7">
            <a:extLst>
              <a:ext uri="{FF2B5EF4-FFF2-40B4-BE49-F238E27FC236}">
                <a16:creationId xmlns:a16="http://schemas.microsoft.com/office/drawing/2014/main" id="{40ECC909-2D66-441C-2D64-BD9101E50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08" y="2402495"/>
            <a:ext cx="11434540" cy="1325563"/>
          </a:xfr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bg1"/>
                </a:solidFill>
                <a:latin typeface="Arial (Headings)"/>
              </a:rPr>
              <a:t>HDB - Proposed Data Platform Architectures:</a:t>
            </a:r>
            <a:br>
              <a:rPr lang="en-GB" b="1" dirty="0">
                <a:solidFill>
                  <a:schemeClr val="bg1"/>
                </a:solidFill>
                <a:latin typeface="Arial (Headings)"/>
              </a:rPr>
            </a:br>
            <a:r>
              <a:rPr lang="en-GB" b="1" dirty="0">
                <a:solidFill>
                  <a:schemeClr val="bg1"/>
                </a:solidFill>
                <a:latin typeface="Arial (Headings)"/>
              </a:rPr>
              <a:t>AWS vs Azure</a:t>
            </a: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F54C6876-9F53-3559-2E9A-1CD3252D6749}"/>
              </a:ext>
            </a:extLst>
          </p:cNvPr>
          <p:cNvSpPr txBox="1">
            <a:spLocks/>
          </p:cNvSpPr>
          <p:nvPr/>
        </p:nvSpPr>
        <p:spPr>
          <a:xfrm>
            <a:off x="383908" y="3993612"/>
            <a:ext cx="3519877" cy="338554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solidFill>
                  <a:schemeClr val="bg1"/>
                </a:solidFill>
                <a:latin typeface="Arial (Body)"/>
                <a:ea typeface="+mj-ea"/>
                <a:cs typeface="+mj-cs"/>
              </a:rPr>
              <a:t>13</a:t>
            </a:r>
            <a:r>
              <a:rPr lang="en-IN" b="1" baseline="30000" dirty="0">
                <a:solidFill>
                  <a:schemeClr val="bg1"/>
                </a:solidFill>
                <a:latin typeface="Arial (Body)"/>
                <a:ea typeface="+mj-ea"/>
                <a:cs typeface="+mj-cs"/>
              </a:rPr>
              <a:t>th</a:t>
            </a:r>
            <a:r>
              <a:rPr lang="en-IN" b="1" dirty="0">
                <a:solidFill>
                  <a:schemeClr val="bg1"/>
                </a:solidFill>
                <a:latin typeface="Arial (Body)"/>
                <a:ea typeface="+mj-ea"/>
                <a:cs typeface="+mj-cs"/>
              </a:rPr>
              <a:t> March 2026</a:t>
            </a:r>
          </a:p>
        </p:txBody>
      </p:sp>
    </p:spTree>
    <p:extLst>
      <p:ext uri="{BB962C8B-B14F-4D97-AF65-F5344CB8AC3E}">
        <p14:creationId xmlns:p14="http://schemas.microsoft.com/office/powerpoint/2010/main" val="2492256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676A1C59-D759-B814-1130-06CAC249507D}"/>
              </a:ext>
            </a:extLst>
          </p:cNvPr>
          <p:cNvSpPr txBox="1">
            <a:spLocks/>
          </p:cNvSpPr>
          <p:nvPr/>
        </p:nvSpPr>
        <p:spPr>
          <a:xfrm>
            <a:off x="481262" y="2109916"/>
            <a:ext cx="11329737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b="1" dirty="0">
                <a:solidFill>
                  <a:schemeClr val="bg1"/>
                </a:solidFill>
                <a:latin typeface="Arial (Body)"/>
              </a:rPr>
              <a:t>	</a:t>
            </a:r>
            <a:r>
              <a:rPr lang="en-GB" sz="1600" b="1" dirty="0">
                <a:solidFill>
                  <a:srgbClr val="002060"/>
                </a:solidFill>
                <a:latin typeface="Arial (Body)"/>
              </a:rPr>
              <a:t>AWS Data Platform Architecture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3E45A1B-B2F0-11B4-63AF-EED747C056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8145" y="1967679"/>
            <a:ext cx="646267" cy="589892"/>
          </a:xfrm>
          <a:prstGeom prst="parallelogram">
            <a:avLst/>
          </a:prstGeom>
          <a:solidFill>
            <a:srgbClr val="1DD3CF"/>
          </a:solidFill>
        </p:spPr>
        <p:txBody>
          <a:bodyPr anchor="ctr"/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Arial (Body)"/>
              </a:rPr>
              <a:t>1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D8CFAA1E-EDB1-3A83-220B-5BEBBE71703B}"/>
              </a:ext>
            </a:extLst>
          </p:cNvPr>
          <p:cNvSpPr txBox="1">
            <a:spLocks/>
          </p:cNvSpPr>
          <p:nvPr/>
        </p:nvSpPr>
        <p:spPr>
          <a:xfrm>
            <a:off x="427408" y="2812328"/>
            <a:ext cx="11329737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b="1" dirty="0">
                <a:solidFill>
                  <a:schemeClr val="bg1">
                    <a:lumMod val="50000"/>
                  </a:schemeClr>
                </a:solidFill>
                <a:latin typeface="Arial (Body)"/>
              </a:rPr>
              <a:t>	Azure Data Platform Architecture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54AB487-39A2-681B-9E06-AA8831C39892}"/>
              </a:ext>
            </a:extLst>
          </p:cNvPr>
          <p:cNvSpPr txBox="1">
            <a:spLocks/>
          </p:cNvSpPr>
          <p:nvPr/>
        </p:nvSpPr>
        <p:spPr>
          <a:xfrm>
            <a:off x="709291" y="2663216"/>
            <a:ext cx="646267" cy="589892"/>
          </a:xfrm>
          <a:prstGeom prst="parallelogram">
            <a:avLst/>
          </a:prstGeom>
          <a:solidFill>
            <a:schemeClr val="bg2">
              <a:lumMod val="9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b="1" dirty="0">
                <a:solidFill>
                  <a:schemeClr val="bg1"/>
                </a:solidFill>
                <a:latin typeface="Arial (Body)"/>
              </a:rPr>
              <a:t>2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0633A722-2DE1-70F0-F897-7B8BBBEDC90B}"/>
              </a:ext>
            </a:extLst>
          </p:cNvPr>
          <p:cNvSpPr txBox="1">
            <a:spLocks/>
          </p:cNvSpPr>
          <p:nvPr/>
        </p:nvSpPr>
        <p:spPr>
          <a:xfrm>
            <a:off x="344908" y="3492976"/>
            <a:ext cx="11329737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b="1" dirty="0">
                <a:solidFill>
                  <a:schemeClr val="bg1">
                    <a:lumMod val="50000"/>
                  </a:schemeClr>
                </a:solidFill>
                <a:latin typeface="Arial (Body)"/>
              </a:rPr>
              <a:t>	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Arial (Body)"/>
              </a:rPr>
              <a:t>Cost Estimation - AWS vs Azure</a:t>
            </a:r>
            <a:endParaRPr lang="en-GB" sz="1600" b="1" dirty="0">
              <a:solidFill>
                <a:schemeClr val="bg1">
                  <a:lumMod val="50000"/>
                </a:schemeClr>
              </a:solidFill>
              <a:latin typeface="Arial (Body)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1B85474-64FA-A8C0-CA6B-89600389474C}"/>
              </a:ext>
            </a:extLst>
          </p:cNvPr>
          <p:cNvSpPr txBox="1">
            <a:spLocks/>
          </p:cNvSpPr>
          <p:nvPr/>
        </p:nvSpPr>
        <p:spPr>
          <a:xfrm>
            <a:off x="592416" y="3350739"/>
            <a:ext cx="646267" cy="589892"/>
          </a:xfrm>
          <a:prstGeom prst="parallelogram">
            <a:avLst/>
          </a:prstGeom>
          <a:solidFill>
            <a:schemeClr val="bg2">
              <a:lumMod val="9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b="1" dirty="0">
                <a:solidFill>
                  <a:schemeClr val="bg1"/>
                </a:solidFill>
                <a:latin typeface="Arial (Body)"/>
              </a:rPr>
              <a:t>3</a:t>
            </a:r>
          </a:p>
        </p:txBody>
      </p:sp>
      <p:sp>
        <p:nvSpPr>
          <p:cNvPr id="12" name="Title 9">
            <a:extLst>
              <a:ext uri="{FF2B5EF4-FFF2-40B4-BE49-F238E27FC236}">
                <a16:creationId xmlns:a16="http://schemas.microsoft.com/office/drawing/2014/main" id="{25D22B2A-E979-B9C4-9C4A-8CD9375BB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645" y="515075"/>
            <a:ext cx="11430000" cy="958265"/>
          </a:xfrm>
        </p:spPr>
        <p:txBody>
          <a:bodyPr>
            <a:normAutofit/>
          </a:bodyPr>
          <a:lstStyle/>
          <a:p>
            <a:r>
              <a:rPr lang="en-GB" sz="2500" b="1" dirty="0">
                <a:solidFill>
                  <a:srgbClr val="002060"/>
                </a:solidFill>
                <a:latin typeface="Arial (Headings)"/>
              </a:rPr>
              <a:t>Agenda - AWS vs Azure Data Platform Architecture</a:t>
            </a:r>
          </a:p>
        </p:txBody>
      </p:sp>
    </p:spTree>
    <p:extLst>
      <p:ext uri="{BB962C8B-B14F-4D97-AF65-F5344CB8AC3E}">
        <p14:creationId xmlns:p14="http://schemas.microsoft.com/office/powerpoint/2010/main" val="3259695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AA3B1D-16DF-7332-0D2C-5B34F9BF35FE}"/>
              </a:ext>
            </a:extLst>
          </p:cNvPr>
          <p:cNvSpPr/>
          <p:nvPr/>
        </p:nvSpPr>
        <p:spPr>
          <a:xfrm>
            <a:off x="200476" y="1217806"/>
            <a:ext cx="1389641" cy="547170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err="1"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6B15FA-41F6-996A-AE8C-68B41D4364B7}"/>
              </a:ext>
            </a:extLst>
          </p:cNvPr>
          <p:cNvSpPr txBox="1"/>
          <p:nvPr/>
        </p:nvSpPr>
        <p:spPr>
          <a:xfrm>
            <a:off x="10816864" y="779673"/>
            <a:ext cx="1215908" cy="323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9105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Dashboard</a:t>
            </a:r>
            <a:endParaRPr kumimoji="0" lang="en-IN" sz="1500" b="1" i="0" u="none" strike="noStrike" kern="1200" cap="none" spc="0" normalizeH="0" baseline="0" noProof="0" dirty="0">
              <a:ln>
                <a:noFill/>
              </a:ln>
              <a:solidFill>
                <a:srgbClr val="19105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C8CBFB-1432-51DF-E3C3-12F7BA9DF489}"/>
              </a:ext>
            </a:extLst>
          </p:cNvPr>
          <p:cNvSpPr txBox="1"/>
          <p:nvPr/>
        </p:nvSpPr>
        <p:spPr>
          <a:xfrm>
            <a:off x="200476" y="786548"/>
            <a:ext cx="1402986" cy="323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9105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Sources</a:t>
            </a:r>
            <a:endParaRPr kumimoji="0" lang="en-IN" sz="1500" b="1" i="0" u="none" strike="noStrike" kern="1200" cap="none" spc="0" normalizeH="0" baseline="0" noProof="0" dirty="0">
              <a:ln>
                <a:noFill/>
              </a:ln>
              <a:solidFill>
                <a:srgbClr val="19105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4E9CAD-5268-13F0-6B06-C807E27B90AB}"/>
              </a:ext>
            </a:extLst>
          </p:cNvPr>
          <p:cNvSpPr/>
          <p:nvPr/>
        </p:nvSpPr>
        <p:spPr>
          <a:xfrm>
            <a:off x="10839606" y="1217806"/>
            <a:ext cx="1151286" cy="546388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Title 120">
            <a:extLst>
              <a:ext uri="{FF2B5EF4-FFF2-40B4-BE49-F238E27FC236}">
                <a16:creationId xmlns:a16="http://schemas.microsoft.com/office/drawing/2014/main" id="{C35EF647-05DD-8001-5FED-C30A118E0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74" y="173961"/>
            <a:ext cx="11446615" cy="494530"/>
          </a:xfrm>
        </p:spPr>
        <p:txBody>
          <a:bodyPr>
            <a:noAutofit/>
          </a:bodyPr>
          <a:lstStyle/>
          <a:p>
            <a:r>
              <a:rPr lang="en-GB" sz="2800" b="1" dirty="0">
                <a:solidFill>
                  <a:srgbClr val="002060"/>
                </a:solidFill>
                <a:latin typeface="Arial (Body)"/>
              </a:rPr>
              <a:t>AWS Data Platform Architecture</a:t>
            </a:r>
            <a:endParaRPr lang="en-US" sz="25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CAD7CE-5529-5D21-8D9E-2B41EA0B6396}"/>
              </a:ext>
            </a:extLst>
          </p:cNvPr>
          <p:cNvSpPr txBox="1"/>
          <p:nvPr/>
        </p:nvSpPr>
        <p:spPr>
          <a:xfrm>
            <a:off x="1852621" y="779672"/>
            <a:ext cx="8659541" cy="323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rgbClr val="19105B"/>
                </a:solidFill>
                <a:latin typeface="Arial"/>
              </a:rPr>
              <a:t>AWS - Data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9105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Platform</a:t>
            </a:r>
            <a:endParaRPr kumimoji="0" lang="en-IN" sz="1500" b="1" i="0" u="none" strike="noStrike" kern="1200" cap="none" spc="0" normalizeH="0" baseline="0" noProof="0" dirty="0">
              <a:ln>
                <a:noFill/>
              </a:ln>
              <a:solidFill>
                <a:srgbClr val="19105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0" name="Group 9" descr="Virtual private cloud (VPC) group.">
            <a:extLst>
              <a:ext uri="{FF2B5EF4-FFF2-40B4-BE49-F238E27FC236}">
                <a16:creationId xmlns:a16="http://schemas.microsoft.com/office/drawing/2014/main" id="{95548465-6443-54FD-D8BF-C104943702F1}"/>
              </a:ext>
            </a:extLst>
          </p:cNvPr>
          <p:cNvGrpSpPr/>
          <p:nvPr/>
        </p:nvGrpSpPr>
        <p:grpSpPr>
          <a:xfrm>
            <a:off x="1930141" y="1561024"/>
            <a:ext cx="7827794" cy="3548895"/>
            <a:chOff x="2279634" y="2615733"/>
            <a:chExt cx="1764249" cy="86644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399A62-DDD6-D5B7-22EC-F508171322F7}"/>
                </a:ext>
              </a:extLst>
            </p:cNvPr>
            <p:cNvSpPr/>
            <p:nvPr/>
          </p:nvSpPr>
          <p:spPr>
            <a:xfrm>
              <a:off x="2279634" y="2615733"/>
              <a:ext cx="1764249" cy="866440"/>
            </a:xfrm>
            <a:prstGeom prst="rect">
              <a:avLst/>
            </a:prstGeom>
            <a:noFill/>
            <a:ln w="15875">
              <a:solidFill>
                <a:srgbClr val="8C4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2" name="Graphic 11" descr="VPC group icon. ">
              <a:extLst>
                <a:ext uri="{FF2B5EF4-FFF2-40B4-BE49-F238E27FC236}">
                  <a16:creationId xmlns:a16="http://schemas.microsoft.com/office/drawing/2014/main" id="{8F687891-5C2B-7C59-4C1B-7C94EBC1E9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2283292" y="2618865"/>
              <a:ext cx="86450" cy="86449"/>
            </a:xfrm>
            <a:prstGeom prst="rect">
              <a:avLst/>
            </a:prstGeom>
          </p:spPr>
        </p:pic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DBC5A22-D240-5A15-24D2-A02E256161BA}"/>
              </a:ext>
            </a:extLst>
          </p:cNvPr>
          <p:cNvSpPr/>
          <p:nvPr/>
        </p:nvSpPr>
        <p:spPr>
          <a:xfrm>
            <a:off x="1994200" y="2011928"/>
            <a:ext cx="1417890" cy="4469835"/>
          </a:xfrm>
          <a:prstGeom prst="rect">
            <a:avLst/>
          </a:prstGeom>
          <a:noFill/>
          <a:ln w="9525">
            <a:solidFill>
              <a:schemeClr val="tx1">
                <a:lumMod val="90000"/>
                <a:lumOff val="1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196"/>
              </a:buClr>
              <a:buSzPct val="120000"/>
              <a:buFontTx/>
              <a:buNone/>
              <a:tabLst/>
              <a:defRPr/>
            </a:pPr>
            <a:r>
              <a:rPr lang="en-GB" sz="1400" b="1" dirty="0">
                <a:solidFill>
                  <a:srgbClr val="191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Ingestion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CF8F86-D1A7-35AA-169F-C463508EB6E2}"/>
              </a:ext>
            </a:extLst>
          </p:cNvPr>
          <p:cNvSpPr/>
          <p:nvPr/>
        </p:nvSpPr>
        <p:spPr>
          <a:xfrm>
            <a:off x="3651907" y="1953257"/>
            <a:ext cx="5883978" cy="172135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196"/>
              </a:buClr>
              <a:buSzPct val="120000"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9105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Transformation and Data Processing</a:t>
            </a:r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A6487339-AF33-392F-7E3A-9F61A9B697EE}"/>
              </a:ext>
            </a:extLst>
          </p:cNvPr>
          <p:cNvSpPr/>
          <p:nvPr/>
        </p:nvSpPr>
        <p:spPr>
          <a:xfrm>
            <a:off x="7388969" y="2312883"/>
            <a:ext cx="1995657" cy="591476"/>
          </a:xfrm>
          <a:prstGeom prst="homePlate">
            <a:avLst/>
          </a:prstGeom>
          <a:solidFill>
            <a:srgbClr val="FFD7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1C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Mart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1D1C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(Business level data)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1D1C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Ready for consumption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1D1C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&amp; distribution</a:t>
            </a:r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96702D3C-5570-408E-F5D5-03358251BF79}"/>
              </a:ext>
            </a:extLst>
          </p:cNvPr>
          <p:cNvSpPr/>
          <p:nvPr/>
        </p:nvSpPr>
        <p:spPr>
          <a:xfrm>
            <a:off x="3781400" y="2325283"/>
            <a:ext cx="1944000" cy="592507"/>
          </a:xfrm>
          <a:prstGeom prst="homePlate">
            <a:avLst/>
          </a:prstGeom>
          <a:solidFill>
            <a:srgbClr val="D2BD9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1C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Landing zone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1D1C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(As-is)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1D1C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Raw data from source systems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F397C6DE-ADA2-D3B4-B984-C9ABBA65962B}"/>
              </a:ext>
            </a:extLst>
          </p:cNvPr>
          <p:cNvSpPr/>
          <p:nvPr/>
        </p:nvSpPr>
        <p:spPr>
          <a:xfrm>
            <a:off x="5629872" y="2331432"/>
            <a:ext cx="1944000" cy="579528"/>
          </a:xfrm>
          <a:prstGeom prst="homePlate">
            <a:avLst/>
          </a:prstGeom>
          <a:solidFill>
            <a:srgbClr val="D5DDE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D1C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Single Source of Truth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1D1C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(Cleaned)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1D1C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Enterprise view of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1D1C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key business entities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EA8D42-7F4B-8ED7-D5D8-83F6F7A9FE8E}"/>
              </a:ext>
            </a:extLst>
          </p:cNvPr>
          <p:cNvSpPr txBox="1"/>
          <p:nvPr/>
        </p:nvSpPr>
        <p:spPr>
          <a:xfrm>
            <a:off x="7730092" y="3146440"/>
            <a:ext cx="980505" cy="231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D7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Gold</a:t>
            </a:r>
            <a:endParaRPr kumimoji="0" lang="en-IN" sz="1000" b="1" i="0" u="none" strike="noStrike" kern="1200" cap="none" spc="0" normalizeH="0" baseline="0" noProof="0">
              <a:ln>
                <a:noFill/>
              </a:ln>
              <a:solidFill>
                <a:srgbClr val="FFD7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Graphic 26">
            <a:extLst>
              <a:ext uri="{FF2B5EF4-FFF2-40B4-BE49-F238E27FC236}">
                <a16:creationId xmlns:a16="http://schemas.microsoft.com/office/drawing/2014/main" id="{C62653D7-434F-DD48-9580-091532AF8014}"/>
              </a:ext>
            </a:extLst>
          </p:cNvPr>
          <p:cNvSpPr/>
          <p:nvPr/>
        </p:nvSpPr>
        <p:spPr>
          <a:xfrm>
            <a:off x="8055550" y="2976907"/>
            <a:ext cx="324000" cy="250324"/>
          </a:xfrm>
          <a:custGeom>
            <a:avLst/>
            <a:gdLst>
              <a:gd name="connsiteX0" fmla="*/ 0 w 588303"/>
              <a:gd name="connsiteY0" fmla="*/ 589691 h 623327"/>
              <a:gd name="connsiteX1" fmla="*/ 229874 w 588303"/>
              <a:gd name="connsiteY1" fmla="*/ 460357 h 623327"/>
              <a:gd name="connsiteX2" fmla="*/ 313183 w 588303"/>
              <a:gd name="connsiteY2" fmla="*/ 494867 h 623327"/>
              <a:gd name="connsiteX3" fmla="*/ 396835 w 588303"/>
              <a:gd name="connsiteY3" fmla="*/ 528999 h 623327"/>
              <a:gd name="connsiteX4" fmla="*/ 461465 w 588303"/>
              <a:gd name="connsiteY4" fmla="*/ 527479 h 623327"/>
              <a:gd name="connsiteX5" fmla="*/ 473562 w 588303"/>
              <a:gd name="connsiteY5" fmla="*/ 497530 h 623327"/>
              <a:gd name="connsiteX6" fmla="*/ 409961 w 588303"/>
              <a:gd name="connsiteY6" fmla="*/ 378051 h 623327"/>
              <a:gd name="connsiteX7" fmla="*/ 312485 w 588303"/>
              <a:gd name="connsiteY7" fmla="*/ 194856 h 623327"/>
              <a:gd name="connsiteX8" fmla="*/ 287947 w 588303"/>
              <a:gd name="connsiteY8" fmla="*/ 195233 h 623327"/>
              <a:gd name="connsiteX9" fmla="*/ 210165 w 588303"/>
              <a:gd name="connsiteY9" fmla="*/ 340880 h 623327"/>
              <a:gd name="connsiteX10" fmla="*/ 204282 w 588303"/>
              <a:gd name="connsiteY10" fmla="*/ 354531 h 623327"/>
              <a:gd name="connsiteX11" fmla="*/ 281033 w 588303"/>
              <a:gd name="connsiteY11" fmla="*/ 391702 h 623327"/>
              <a:gd name="connsiteX12" fmla="*/ 320095 w 588303"/>
              <a:gd name="connsiteY12" fmla="*/ 422809 h 623327"/>
              <a:gd name="connsiteX13" fmla="*/ 332194 w 588303"/>
              <a:gd name="connsiteY13" fmla="*/ 443291 h 623327"/>
              <a:gd name="connsiteX14" fmla="*/ 310070 w 588303"/>
              <a:gd name="connsiteY14" fmla="*/ 441394 h 623327"/>
              <a:gd name="connsiteX15" fmla="*/ 225033 w 588303"/>
              <a:gd name="connsiteY15" fmla="*/ 419393 h 623327"/>
              <a:gd name="connsiteX16" fmla="*/ 76396 w 588303"/>
              <a:gd name="connsiteY16" fmla="*/ 446317 h 623327"/>
              <a:gd name="connsiteX17" fmla="*/ 59114 w 588303"/>
              <a:gd name="connsiteY17" fmla="*/ 446694 h 623327"/>
              <a:gd name="connsiteX18" fmla="*/ 62914 w 588303"/>
              <a:gd name="connsiteY18" fmla="*/ 429627 h 623327"/>
              <a:gd name="connsiteX19" fmla="*/ 282418 w 588303"/>
              <a:gd name="connsiteY19" fmla="*/ 15842 h 623327"/>
              <a:gd name="connsiteX20" fmla="*/ 317670 w 588303"/>
              <a:gd name="connsiteY20" fmla="*/ 16595 h 623327"/>
              <a:gd name="connsiteX21" fmla="*/ 576579 w 588303"/>
              <a:gd name="connsiteY21" fmla="*/ 502074 h 623327"/>
              <a:gd name="connsiteX22" fmla="*/ 559983 w 588303"/>
              <a:gd name="connsiteY22" fmla="*/ 581718 h 623327"/>
              <a:gd name="connsiteX23" fmla="*/ 331837 w 588303"/>
              <a:gd name="connsiteY23" fmla="*/ 594237 h 623327"/>
              <a:gd name="connsiteX24" fmla="*/ 274108 w 588303"/>
              <a:gd name="connsiteY24" fmla="*/ 563898 h 623327"/>
              <a:gd name="connsiteX25" fmla="*/ 86764 w 588303"/>
              <a:gd name="connsiteY25" fmla="*/ 552143 h 623327"/>
              <a:gd name="connsiteX26" fmla="*/ 17981 w 588303"/>
              <a:gd name="connsiteY26" fmla="*/ 582107 h 623327"/>
              <a:gd name="connsiteX27" fmla="*/ 0 w 588303"/>
              <a:gd name="connsiteY27" fmla="*/ 589691 h 623327"/>
              <a:gd name="connsiteX28" fmla="*/ 0 w 588303"/>
              <a:gd name="connsiteY28" fmla="*/ 589691 h 62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588303" h="623327">
                <a:moveTo>
                  <a:pt x="0" y="589691"/>
                </a:moveTo>
                <a:cubicBezTo>
                  <a:pt x="50816" y="486905"/>
                  <a:pt x="143452" y="439499"/>
                  <a:pt x="229874" y="460357"/>
                </a:cubicBezTo>
                <a:cubicBezTo>
                  <a:pt x="258555" y="467175"/>
                  <a:pt x="285520" y="483111"/>
                  <a:pt x="313183" y="494867"/>
                </a:cubicBezTo>
                <a:cubicBezTo>
                  <a:pt x="340835" y="506620"/>
                  <a:pt x="368141" y="521790"/>
                  <a:pt x="396835" y="528999"/>
                </a:cubicBezTo>
                <a:cubicBezTo>
                  <a:pt x="417218" y="534312"/>
                  <a:pt x="440040" y="530518"/>
                  <a:pt x="461465" y="527479"/>
                </a:cubicBezTo>
                <a:cubicBezTo>
                  <a:pt x="481172" y="524830"/>
                  <a:pt x="483588" y="516492"/>
                  <a:pt x="473562" y="497530"/>
                </a:cubicBezTo>
                <a:cubicBezTo>
                  <a:pt x="452480" y="457694"/>
                  <a:pt x="431055" y="417873"/>
                  <a:pt x="409961" y="378051"/>
                </a:cubicBezTo>
                <a:cubicBezTo>
                  <a:pt x="409961" y="378051"/>
                  <a:pt x="312485" y="194856"/>
                  <a:pt x="312485" y="194856"/>
                </a:cubicBezTo>
                <a:cubicBezTo>
                  <a:pt x="301771" y="174750"/>
                  <a:pt x="298659" y="175141"/>
                  <a:pt x="287947" y="195233"/>
                </a:cubicBezTo>
                <a:cubicBezTo>
                  <a:pt x="287947" y="195233"/>
                  <a:pt x="210165" y="340880"/>
                  <a:pt x="210165" y="340880"/>
                </a:cubicBezTo>
                <a:cubicBezTo>
                  <a:pt x="207751" y="345427"/>
                  <a:pt x="206022" y="350739"/>
                  <a:pt x="204282" y="354531"/>
                </a:cubicBezTo>
                <a:cubicBezTo>
                  <a:pt x="230903" y="367441"/>
                  <a:pt x="256495" y="378051"/>
                  <a:pt x="281033" y="391702"/>
                </a:cubicBezTo>
                <a:cubicBezTo>
                  <a:pt x="295203" y="399663"/>
                  <a:pt x="307643" y="411432"/>
                  <a:pt x="320095" y="422809"/>
                </a:cubicBezTo>
                <a:cubicBezTo>
                  <a:pt x="325611" y="427732"/>
                  <a:pt x="328038" y="436459"/>
                  <a:pt x="332194" y="443291"/>
                </a:cubicBezTo>
                <a:cubicBezTo>
                  <a:pt x="324925" y="442525"/>
                  <a:pt x="317326" y="443291"/>
                  <a:pt x="310070" y="441394"/>
                </a:cubicBezTo>
                <a:cubicBezTo>
                  <a:pt x="281720" y="434187"/>
                  <a:pt x="253726" y="422809"/>
                  <a:pt x="225033" y="419393"/>
                </a:cubicBezTo>
                <a:cubicBezTo>
                  <a:pt x="173873" y="413327"/>
                  <a:pt x="124443" y="428498"/>
                  <a:pt x="76396" y="446317"/>
                </a:cubicBezTo>
                <a:cubicBezTo>
                  <a:pt x="71211" y="448212"/>
                  <a:pt x="64997" y="446694"/>
                  <a:pt x="59114" y="446694"/>
                </a:cubicBezTo>
                <a:cubicBezTo>
                  <a:pt x="60500" y="441005"/>
                  <a:pt x="60500" y="434562"/>
                  <a:pt x="62914" y="429627"/>
                </a:cubicBezTo>
                <a:cubicBezTo>
                  <a:pt x="135154" y="291577"/>
                  <a:pt x="208793" y="153529"/>
                  <a:pt x="282418" y="15842"/>
                </a:cubicBezTo>
                <a:cubicBezTo>
                  <a:pt x="293817" y="-5783"/>
                  <a:pt x="306271" y="-5016"/>
                  <a:pt x="317670" y="16595"/>
                </a:cubicBezTo>
                <a:cubicBezTo>
                  <a:pt x="404078" y="178556"/>
                  <a:pt x="490157" y="340126"/>
                  <a:pt x="576579" y="502074"/>
                </a:cubicBezTo>
                <a:cubicBezTo>
                  <a:pt x="595578" y="538117"/>
                  <a:pt x="592476" y="560104"/>
                  <a:pt x="559983" y="581718"/>
                </a:cubicBezTo>
                <a:cubicBezTo>
                  <a:pt x="486357" y="631408"/>
                  <a:pt x="409961" y="637851"/>
                  <a:pt x="331837" y="594237"/>
                </a:cubicBezTo>
                <a:cubicBezTo>
                  <a:pt x="312839" y="583613"/>
                  <a:pt x="293130" y="574898"/>
                  <a:pt x="274108" y="563898"/>
                </a:cubicBezTo>
                <a:cubicBezTo>
                  <a:pt x="213278" y="528622"/>
                  <a:pt x="150366" y="528622"/>
                  <a:pt x="86764" y="552143"/>
                </a:cubicBezTo>
                <a:cubicBezTo>
                  <a:pt x="63257" y="560481"/>
                  <a:pt x="40802" y="572235"/>
                  <a:pt x="17981" y="582107"/>
                </a:cubicBezTo>
                <a:cubicBezTo>
                  <a:pt x="13482" y="583990"/>
                  <a:pt x="8996" y="585899"/>
                  <a:pt x="0" y="589691"/>
                </a:cubicBezTo>
                <a:cubicBezTo>
                  <a:pt x="0" y="589691"/>
                  <a:pt x="0" y="589691"/>
                  <a:pt x="0" y="589691"/>
                </a:cubicBezTo>
              </a:path>
            </a:pathLst>
          </a:custGeom>
          <a:solidFill>
            <a:srgbClr val="FFD700"/>
          </a:solidFill>
          <a:ln w="155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1D1C1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5E3643-18C8-BEF9-D242-4BA45F01DF84}"/>
              </a:ext>
            </a:extLst>
          </p:cNvPr>
          <p:cNvSpPr txBox="1"/>
          <p:nvPr/>
        </p:nvSpPr>
        <p:spPr>
          <a:xfrm>
            <a:off x="6700462" y="6272675"/>
            <a:ext cx="11703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9105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AWS CodePipeline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43F8F4-DE6D-B6CB-BB75-F4F29392CA27}"/>
              </a:ext>
            </a:extLst>
          </p:cNvPr>
          <p:cNvSpPr txBox="1"/>
          <p:nvPr/>
        </p:nvSpPr>
        <p:spPr>
          <a:xfrm>
            <a:off x="5746027" y="6266328"/>
            <a:ext cx="109829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9105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AWS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19105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CodeCommit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9105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 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A0FA4F0-F39A-F34A-6228-9B50A495413D}"/>
              </a:ext>
            </a:extLst>
          </p:cNvPr>
          <p:cNvCxnSpPr>
            <a:cxnSpLocks/>
          </p:cNvCxnSpPr>
          <p:nvPr/>
        </p:nvCxnSpPr>
        <p:spPr>
          <a:xfrm flipV="1">
            <a:off x="6845602" y="5184042"/>
            <a:ext cx="450000" cy="0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D3A0C48-D8E0-5757-309B-68400EB576C0}"/>
              </a:ext>
            </a:extLst>
          </p:cNvPr>
          <p:cNvCxnSpPr>
            <a:cxnSpLocks/>
          </p:cNvCxnSpPr>
          <p:nvPr/>
        </p:nvCxnSpPr>
        <p:spPr>
          <a:xfrm flipV="1">
            <a:off x="7823696" y="5181230"/>
            <a:ext cx="450000" cy="0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3F28C5B-F0C6-0574-81D0-FBFB56DCC0E1}"/>
              </a:ext>
            </a:extLst>
          </p:cNvPr>
          <p:cNvGrpSpPr/>
          <p:nvPr/>
        </p:nvGrpSpPr>
        <p:grpSpPr>
          <a:xfrm>
            <a:off x="3645032" y="4276052"/>
            <a:ext cx="5883978" cy="2234457"/>
            <a:chOff x="3494432" y="4149125"/>
            <a:chExt cx="6656855" cy="206834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7254838-D801-15B0-0F11-BD2ECED08904}"/>
                </a:ext>
              </a:extLst>
            </p:cNvPr>
            <p:cNvSpPr/>
            <p:nvPr/>
          </p:nvSpPr>
          <p:spPr>
            <a:xfrm>
              <a:off x="3494432" y="5558543"/>
              <a:ext cx="6656855" cy="658927"/>
            </a:xfrm>
            <a:prstGeom prst="rect">
              <a:avLst/>
            </a:prstGeom>
            <a:noFill/>
            <a:ln w="9525">
              <a:solidFill>
                <a:schemeClr val="tx1">
                  <a:lumMod val="90000"/>
                  <a:lumOff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6196"/>
                </a:buClr>
                <a:buSzPct val="120000"/>
                <a:buFontTx/>
                <a:buNone/>
                <a:tabLst/>
                <a:defRPr/>
              </a:pPr>
              <a:r>
                <a:rPr kumimoji="0" lang="en-GB" sz="1200" b="1" u="none" strike="noStrike" kern="1200" cap="none" spc="0" normalizeH="0" baseline="0" noProof="0" dirty="0">
                  <a:ln>
                    <a:noFill/>
                  </a:ln>
                  <a:solidFill>
                    <a:srgbClr val="19105B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Version control &amp; CICD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6196"/>
                </a:buClr>
                <a:buSzPct val="120000"/>
                <a:buFontTx/>
                <a:buNone/>
                <a:tabLst/>
                <a:defRPr/>
              </a:pPr>
              <a:r>
                <a:rPr kumimoji="0" lang="en-GB" sz="1000" b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(Team collaboration,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6196"/>
                </a:buClr>
                <a:buSzPct val="120000"/>
                <a:buFontTx/>
                <a:buNone/>
                <a:tabLst/>
                <a:defRPr/>
              </a:pPr>
              <a:r>
                <a:rPr kumimoji="0" lang="en-US" sz="1000" b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Automated release between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6196"/>
                </a:buClr>
                <a:buSzPct val="120000"/>
                <a:buFontTx/>
                <a:buNone/>
                <a:tabLst/>
                <a:defRPr/>
              </a:pPr>
              <a:r>
                <a:rPr kumimoji="0" lang="en-US" sz="1000" b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environments)</a:t>
              </a:r>
              <a:endParaRPr kumimoji="0" lang="en-IN" sz="1000" b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C3744F9-5C26-E600-9696-C165C9B73767}"/>
                </a:ext>
              </a:extLst>
            </p:cNvPr>
            <p:cNvSpPr/>
            <p:nvPr/>
          </p:nvSpPr>
          <p:spPr>
            <a:xfrm>
              <a:off x="3494432" y="4149125"/>
              <a:ext cx="6656855" cy="653360"/>
            </a:xfrm>
            <a:prstGeom prst="rect">
              <a:avLst/>
            </a:prstGeom>
            <a:noFill/>
            <a:ln w="9525">
              <a:solidFill>
                <a:schemeClr val="tx1">
                  <a:lumMod val="90000"/>
                  <a:lumOff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6196"/>
                </a:buClr>
                <a:buSzPct val="120000"/>
                <a:buFontTx/>
                <a:buNone/>
                <a:tabLst/>
                <a:defRPr/>
              </a:pPr>
              <a:r>
                <a:rPr kumimoji="0" lang="en-GB" sz="1200" b="1" u="none" strike="noStrike" kern="1200" cap="none" spc="0" normalizeH="0" baseline="0" noProof="0" dirty="0">
                  <a:ln>
                    <a:noFill/>
                  </a:ln>
                  <a:solidFill>
                    <a:srgbClr val="1910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Storage</a:t>
              </a:r>
              <a:br>
                <a:rPr kumimoji="0" lang="en-GB" sz="1000" b="1" u="none" strike="noStrike" kern="1200" cap="none" spc="0" normalizeH="0" baseline="0" noProof="0" dirty="0">
                  <a:ln>
                    <a:noFill/>
                  </a:ln>
                  <a:solidFill>
                    <a:srgbClr val="1910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</a:br>
              <a:r>
                <a:rPr kumimoji="0" lang="en-GB" sz="1000" b="1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(</a:t>
              </a:r>
              <a:r>
                <a:rPr kumimoji="0" lang="en-US" sz="1000" b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ACID Transactions,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6196"/>
                </a:buClr>
                <a:buSzPct val="120000"/>
                <a:buFontTx/>
                <a:buNone/>
                <a:tabLst/>
                <a:defRPr/>
              </a:pPr>
              <a:r>
                <a:rPr kumimoji="0" lang="en-US" sz="1000" b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Time travel, Schema Evolution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6196"/>
                </a:buClr>
                <a:buSzPct val="120000"/>
                <a:buFontTx/>
                <a:buNone/>
                <a:tabLst/>
                <a:defRPr/>
              </a:pPr>
              <a:r>
                <a:rPr kumimoji="0" lang="en-US" sz="1000" b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&amp; Audit Logging)</a:t>
              </a:r>
              <a:endParaRPr kumimoji="0" lang="en-IN" sz="1000" b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6196"/>
                </a:buClr>
                <a:buSzPct val="120000"/>
                <a:buFontTx/>
                <a:buNone/>
                <a:tabLst/>
                <a:defRPr/>
              </a:pPr>
              <a:endParaRPr kumimoji="0" lang="en-GB" sz="1000" b="1" u="none" strike="noStrike" kern="1200" cap="none" spc="0" normalizeH="0" baseline="0" noProof="0" dirty="0">
                <a:ln>
                  <a:noFill/>
                </a:ln>
                <a:solidFill>
                  <a:srgbClr val="19105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41351F1-2F19-BFF1-56DB-AFCFCE51B8FE}"/>
                </a:ext>
              </a:extLst>
            </p:cNvPr>
            <p:cNvSpPr/>
            <p:nvPr/>
          </p:nvSpPr>
          <p:spPr>
            <a:xfrm>
              <a:off x="3494432" y="4835786"/>
              <a:ext cx="6656855" cy="675989"/>
            </a:xfrm>
            <a:prstGeom prst="rect">
              <a:avLst/>
            </a:prstGeom>
            <a:noFill/>
            <a:ln w="9525">
              <a:solidFill>
                <a:schemeClr val="tx1">
                  <a:lumMod val="90000"/>
                  <a:lumOff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6196"/>
                </a:buClr>
                <a:buSzPct val="120000"/>
                <a:buFontTx/>
                <a:buNone/>
                <a:tabLst/>
                <a:defRPr/>
              </a:pPr>
              <a:r>
                <a:rPr kumimoji="0" lang="en-GB" sz="1200" b="1" u="none" strike="noStrike" kern="1200" cap="none" spc="0" normalizeH="0" baseline="0" noProof="0" dirty="0">
                  <a:ln>
                    <a:noFill/>
                  </a:ln>
                  <a:solidFill>
                    <a:srgbClr val="1910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Security</a:t>
              </a:r>
              <a:r>
                <a:rPr kumimoji="0" lang="en-GB" sz="1200" b="1" u="none" strike="noStrike" kern="1200" cap="none" spc="0" normalizeH="0" baseline="0" noProof="0" dirty="0">
                  <a:ln>
                    <a:noFill/>
                  </a:ln>
                  <a:solidFill>
                    <a:srgbClr val="19105B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and monitoring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6196"/>
                </a:buClr>
                <a:buSzPct val="120000"/>
                <a:buFontTx/>
                <a:buNone/>
                <a:tabLst/>
                <a:defRPr/>
              </a:pPr>
              <a:r>
                <a:rPr kumimoji="0" lang="en-GB" sz="1000" b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(</a:t>
              </a:r>
              <a:r>
                <a:rPr kumimoji="0" lang="en-US" sz="1000" b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Observability,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6196"/>
                </a:buClr>
                <a:buSzPct val="120000"/>
                <a:buFontTx/>
                <a:buNone/>
                <a:tabLst/>
                <a:defRPr/>
              </a:pPr>
              <a:r>
                <a:rPr kumimoji="0" lang="en-US" sz="1000" b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Security and access control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6196"/>
                </a:buClr>
                <a:buSzPct val="120000"/>
                <a:buFontTx/>
                <a:buNone/>
                <a:tabLst/>
                <a:defRPr/>
              </a:pPr>
              <a:r>
                <a:rPr kumimoji="0" lang="en-US" sz="1000" b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of platform)</a:t>
              </a:r>
              <a:endParaRPr kumimoji="0" lang="en-IN" sz="1000" b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4F2B6102-AEBF-1C90-5557-878ECCF28338}"/>
              </a:ext>
            </a:extLst>
          </p:cNvPr>
          <p:cNvSpPr txBox="1"/>
          <p:nvPr/>
        </p:nvSpPr>
        <p:spPr>
          <a:xfrm>
            <a:off x="5593345" y="5482726"/>
            <a:ext cx="1252615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9105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AWS Secrets Manager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BF0C2B-402A-97EB-5149-C8B8B466C7BB}"/>
              </a:ext>
            </a:extLst>
          </p:cNvPr>
          <p:cNvSpPr txBox="1"/>
          <p:nvPr/>
        </p:nvSpPr>
        <p:spPr>
          <a:xfrm>
            <a:off x="6711513" y="5480755"/>
            <a:ext cx="10973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9105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AWS CloudWatch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F5323B5-6D75-FFDE-D567-E9BD6DDD8B8A}"/>
              </a:ext>
            </a:extLst>
          </p:cNvPr>
          <p:cNvSpPr txBox="1"/>
          <p:nvPr/>
        </p:nvSpPr>
        <p:spPr>
          <a:xfrm>
            <a:off x="7871823" y="5485616"/>
            <a:ext cx="786527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9105B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AWS Shield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E71E9C5-297E-88CF-B1BF-7D5F67870E88}"/>
              </a:ext>
            </a:extLst>
          </p:cNvPr>
          <p:cNvGrpSpPr/>
          <p:nvPr/>
        </p:nvGrpSpPr>
        <p:grpSpPr>
          <a:xfrm>
            <a:off x="7599468" y="4387627"/>
            <a:ext cx="1551306" cy="419022"/>
            <a:chOff x="7424223" y="4118307"/>
            <a:chExt cx="1551306" cy="419022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45DD8A5E-4566-3681-BA6A-6A12132E12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24223" y="4118307"/>
              <a:ext cx="514534" cy="419022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21C7119-0718-B1F7-9DC9-5613BB7B0221}"/>
                </a:ext>
              </a:extLst>
            </p:cNvPr>
            <p:cNvSpPr txBox="1"/>
            <p:nvPr/>
          </p:nvSpPr>
          <p:spPr>
            <a:xfrm>
              <a:off x="7943298" y="4223485"/>
              <a:ext cx="103223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rgbClr val="19105B"/>
                  </a:solidFill>
                  <a:latin typeface="Arial"/>
                  <a:cs typeface="Arial"/>
                </a:rPr>
                <a:t>Delta Lake</a:t>
              </a:r>
              <a:endParaRPr lang="en-IN" sz="1000" dirty="0">
                <a:solidFill>
                  <a:srgbClr val="19105B"/>
                </a:solidFill>
                <a:latin typeface="Arial"/>
                <a:cs typeface="Arial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00A279BB-3DCC-A207-6852-0607625E77D5}"/>
              </a:ext>
            </a:extLst>
          </p:cNvPr>
          <p:cNvSpPr txBox="1"/>
          <p:nvPr/>
        </p:nvSpPr>
        <p:spPr>
          <a:xfrm>
            <a:off x="4195961" y="3152407"/>
            <a:ext cx="980505" cy="231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D2BD9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Bronze</a:t>
            </a:r>
            <a:endParaRPr kumimoji="0" lang="en-IN" sz="1000" b="1" i="0" u="none" strike="noStrike" kern="1200" cap="none" spc="0" normalizeH="0" baseline="0" noProof="0" dirty="0">
              <a:ln>
                <a:noFill/>
              </a:ln>
              <a:solidFill>
                <a:srgbClr val="D2BD9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Graphic 17">
            <a:extLst>
              <a:ext uri="{FF2B5EF4-FFF2-40B4-BE49-F238E27FC236}">
                <a16:creationId xmlns:a16="http://schemas.microsoft.com/office/drawing/2014/main" id="{751785E2-DB9C-FC7D-09A9-68EF6D73C951}"/>
              </a:ext>
            </a:extLst>
          </p:cNvPr>
          <p:cNvSpPr/>
          <p:nvPr/>
        </p:nvSpPr>
        <p:spPr>
          <a:xfrm>
            <a:off x="4524213" y="2945080"/>
            <a:ext cx="324000" cy="250324"/>
          </a:xfrm>
          <a:custGeom>
            <a:avLst/>
            <a:gdLst>
              <a:gd name="connsiteX0" fmla="*/ 0 w 588303"/>
              <a:gd name="connsiteY0" fmla="*/ 589691 h 623327"/>
              <a:gd name="connsiteX1" fmla="*/ 229874 w 588303"/>
              <a:gd name="connsiteY1" fmla="*/ 460357 h 623327"/>
              <a:gd name="connsiteX2" fmla="*/ 313183 w 588303"/>
              <a:gd name="connsiteY2" fmla="*/ 494867 h 623327"/>
              <a:gd name="connsiteX3" fmla="*/ 396835 w 588303"/>
              <a:gd name="connsiteY3" fmla="*/ 528999 h 623327"/>
              <a:gd name="connsiteX4" fmla="*/ 461465 w 588303"/>
              <a:gd name="connsiteY4" fmla="*/ 527479 h 623327"/>
              <a:gd name="connsiteX5" fmla="*/ 473562 w 588303"/>
              <a:gd name="connsiteY5" fmla="*/ 497530 h 623327"/>
              <a:gd name="connsiteX6" fmla="*/ 409961 w 588303"/>
              <a:gd name="connsiteY6" fmla="*/ 378051 h 623327"/>
              <a:gd name="connsiteX7" fmla="*/ 312485 w 588303"/>
              <a:gd name="connsiteY7" fmla="*/ 194856 h 623327"/>
              <a:gd name="connsiteX8" fmla="*/ 287947 w 588303"/>
              <a:gd name="connsiteY8" fmla="*/ 195233 h 623327"/>
              <a:gd name="connsiteX9" fmla="*/ 210165 w 588303"/>
              <a:gd name="connsiteY9" fmla="*/ 340880 h 623327"/>
              <a:gd name="connsiteX10" fmla="*/ 204282 w 588303"/>
              <a:gd name="connsiteY10" fmla="*/ 354531 h 623327"/>
              <a:gd name="connsiteX11" fmla="*/ 281033 w 588303"/>
              <a:gd name="connsiteY11" fmla="*/ 391702 h 623327"/>
              <a:gd name="connsiteX12" fmla="*/ 320095 w 588303"/>
              <a:gd name="connsiteY12" fmla="*/ 422809 h 623327"/>
              <a:gd name="connsiteX13" fmla="*/ 332194 w 588303"/>
              <a:gd name="connsiteY13" fmla="*/ 443291 h 623327"/>
              <a:gd name="connsiteX14" fmla="*/ 310070 w 588303"/>
              <a:gd name="connsiteY14" fmla="*/ 441394 h 623327"/>
              <a:gd name="connsiteX15" fmla="*/ 225033 w 588303"/>
              <a:gd name="connsiteY15" fmla="*/ 419393 h 623327"/>
              <a:gd name="connsiteX16" fmla="*/ 76396 w 588303"/>
              <a:gd name="connsiteY16" fmla="*/ 446317 h 623327"/>
              <a:gd name="connsiteX17" fmla="*/ 59114 w 588303"/>
              <a:gd name="connsiteY17" fmla="*/ 446694 h 623327"/>
              <a:gd name="connsiteX18" fmla="*/ 62914 w 588303"/>
              <a:gd name="connsiteY18" fmla="*/ 429627 h 623327"/>
              <a:gd name="connsiteX19" fmla="*/ 282418 w 588303"/>
              <a:gd name="connsiteY19" fmla="*/ 15842 h 623327"/>
              <a:gd name="connsiteX20" fmla="*/ 317670 w 588303"/>
              <a:gd name="connsiteY20" fmla="*/ 16595 h 623327"/>
              <a:gd name="connsiteX21" fmla="*/ 576579 w 588303"/>
              <a:gd name="connsiteY21" fmla="*/ 502074 h 623327"/>
              <a:gd name="connsiteX22" fmla="*/ 559983 w 588303"/>
              <a:gd name="connsiteY22" fmla="*/ 581718 h 623327"/>
              <a:gd name="connsiteX23" fmla="*/ 331837 w 588303"/>
              <a:gd name="connsiteY23" fmla="*/ 594237 h 623327"/>
              <a:gd name="connsiteX24" fmla="*/ 274108 w 588303"/>
              <a:gd name="connsiteY24" fmla="*/ 563898 h 623327"/>
              <a:gd name="connsiteX25" fmla="*/ 86764 w 588303"/>
              <a:gd name="connsiteY25" fmla="*/ 552143 h 623327"/>
              <a:gd name="connsiteX26" fmla="*/ 17981 w 588303"/>
              <a:gd name="connsiteY26" fmla="*/ 582107 h 623327"/>
              <a:gd name="connsiteX27" fmla="*/ 0 w 588303"/>
              <a:gd name="connsiteY27" fmla="*/ 589691 h 623327"/>
              <a:gd name="connsiteX28" fmla="*/ 0 w 588303"/>
              <a:gd name="connsiteY28" fmla="*/ 589691 h 62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588303" h="623327">
                <a:moveTo>
                  <a:pt x="0" y="589691"/>
                </a:moveTo>
                <a:cubicBezTo>
                  <a:pt x="50816" y="486905"/>
                  <a:pt x="143452" y="439499"/>
                  <a:pt x="229874" y="460357"/>
                </a:cubicBezTo>
                <a:cubicBezTo>
                  <a:pt x="258555" y="467175"/>
                  <a:pt x="285520" y="483111"/>
                  <a:pt x="313183" y="494867"/>
                </a:cubicBezTo>
                <a:cubicBezTo>
                  <a:pt x="340835" y="506620"/>
                  <a:pt x="368141" y="521790"/>
                  <a:pt x="396835" y="528999"/>
                </a:cubicBezTo>
                <a:cubicBezTo>
                  <a:pt x="417218" y="534312"/>
                  <a:pt x="440040" y="530518"/>
                  <a:pt x="461465" y="527479"/>
                </a:cubicBezTo>
                <a:cubicBezTo>
                  <a:pt x="481172" y="524830"/>
                  <a:pt x="483588" y="516492"/>
                  <a:pt x="473562" y="497530"/>
                </a:cubicBezTo>
                <a:cubicBezTo>
                  <a:pt x="452480" y="457694"/>
                  <a:pt x="431055" y="417873"/>
                  <a:pt x="409961" y="378051"/>
                </a:cubicBezTo>
                <a:cubicBezTo>
                  <a:pt x="409961" y="378051"/>
                  <a:pt x="312485" y="194856"/>
                  <a:pt x="312485" y="194856"/>
                </a:cubicBezTo>
                <a:cubicBezTo>
                  <a:pt x="301771" y="174750"/>
                  <a:pt x="298659" y="175141"/>
                  <a:pt x="287947" y="195233"/>
                </a:cubicBezTo>
                <a:cubicBezTo>
                  <a:pt x="287947" y="195233"/>
                  <a:pt x="210165" y="340880"/>
                  <a:pt x="210165" y="340880"/>
                </a:cubicBezTo>
                <a:cubicBezTo>
                  <a:pt x="207751" y="345427"/>
                  <a:pt x="206022" y="350739"/>
                  <a:pt x="204282" y="354531"/>
                </a:cubicBezTo>
                <a:cubicBezTo>
                  <a:pt x="230903" y="367441"/>
                  <a:pt x="256495" y="378051"/>
                  <a:pt x="281033" y="391702"/>
                </a:cubicBezTo>
                <a:cubicBezTo>
                  <a:pt x="295203" y="399663"/>
                  <a:pt x="307643" y="411432"/>
                  <a:pt x="320095" y="422809"/>
                </a:cubicBezTo>
                <a:cubicBezTo>
                  <a:pt x="325611" y="427732"/>
                  <a:pt x="328038" y="436459"/>
                  <a:pt x="332194" y="443291"/>
                </a:cubicBezTo>
                <a:cubicBezTo>
                  <a:pt x="324925" y="442525"/>
                  <a:pt x="317326" y="443291"/>
                  <a:pt x="310070" y="441394"/>
                </a:cubicBezTo>
                <a:cubicBezTo>
                  <a:pt x="281720" y="434187"/>
                  <a:pt x="253726" y="422809"/>
                  <a:pt x="225033" y="419393"/>
                </a:cubicBezTo>
                <a:cubicBezTo>
                  <a:pt x="173873" y="413327"/>
                  <a:pt x="124443" y="428498"/>
                  <a:pt x="76396" y="446317"/>
                </a:cubicBezTo>
                <a:cubicBezTo>
                  <a:pt x="71211" y="448212"/>
                  <a:pt x="64997" y="446694"/>
                  <a:pt x="59114" y="446694"/>
                </a:cubicBezTo>
                <a:cubicBezTo>
                  <a:pt x="60500" y="441005"/>
                  <a:pt x="60500" y="434562"/>
                  <a:pt x="62914" y="429627"/>
                </a:cubicBezTo>
                <a:cubicBezTo>
                  <a:pt x="135154" y="291577"/>
                  <a:pt x="208793" y="153529"/>
                  <a:pt x="282418" y="15842"/>
                </a:cubicBezTo>
                <a:cubicBezTo>
                  <a:pt x="293817" y="-5783"/>
                  <a:pt x="306271" y="-5016"/>
                  <a:pt x="317670" y="16595"/>
                </a:cubicBezTo>
                <a:cubicBezTo>
                  <a:pt x="404078" y="178556"/>
                  <a:pt x="490157" y="340126"/>
                  <a:pt x="576579" y="502074"/>
                </a:cubicBezTo>
                <a:cubicBezTo>
                  <a:pt x="595578" y="538117"/>
                  <a:pt x="592476" y="560104"/>
                  <a:pt x="559983" y="581718"/>
                </a:cubicBezTo>
                <a:cubicBezTo>
                  <a:pt x="486357" y="631408"/>
                  <a:pt x="409961" y="637851"/>
                  <a:pt x="331837" y="594237"/>
                </a:cubicBezTo>
                <a:cubicBezTo>
                  <a:pt x="312839" y="583613"/>
                  <a:pt x="293130" y="574898"/>
                  <a:pt x="274108" y="563898"/>
                </a:cubicBezTo>
                <a:cubicBezTo>
                  <a:pt x="213278" y="528622"/>
                  <a:pt x="150366" y="528622"/>
                  <a:pt x="86764" y="552143"/>
                </a:cubicBezTo>
                <a:cubicBezTo>
                  <a:pt x="63257" y="560481"/>
                  <a:pt x="40802" y="572235"/>
                  <a:pt x="17981" y="582107"/>
                </a:cubicBezTo>
                <a:cubicBezTo>
                  <a:pt x="13482" y="583990"/>
                  <a:pt x="8996" y="585899"/>
                  <a:pt x="0" y="589691"/>
                </a:cubicBezTo>
                <a:cubicBezTo>
                  <a:pt x="0" y="589691"/>
                  <a:pt x="0" y="589691"/>
                  <a:pt x="0" y="589691"/>
                </a:cubicBezTo>
              </a:path>
            </a:pathLst>
          </a:custGeom>
          <a:solidFill>
            <a:srgbClr val="D2BD9E"/>
          </a:solidFill>
          <a:ln w="155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1D1C1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D3AF418-6363-D31E-D4DC-026EDB3C4E57}"/>
              </a:ext>
            </a:extLst>
          </p:cNvPr>
          <p:cNvSpPr txBox="1"/>
          <p:nvPr/>
        </p:nvSpPr>
        <p:spPr>
          <a:xfrm>
            <a:off x="5966818" y="3155640"/>
            <a:ext cx="980505" cy="231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Silver</a:t>
            </a:r>
            <a:endParaRPr kumimoji="0" lang="en-IN" sz="10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Graphic 22">
            <a:extLst>
              <a:ext uri="{FF2B5EF4-FFF2-40B4-BE49-F238E27FC236}">
                <a16:creationId xmlns:a16="http://schemas.microsoft.com/office/drawing/2014/main" id="{C30C2724-9C92-BCB8-935E-4A98086791A4}"/>
              </a:ext>
            </a:extLst>
          </p:cNvPr>
          <p:cNvSpPr/>
          <p:nvPr/>
        </p:nvSpPr>
        <p:spPr>
          <a:xfrm>
            <a:off x="6295070" y="2948313"/>
            <a:ext cx="324000" cy="250324"/>
          </a:xfrm>
          <a:custGeom>
            <a:avLst/>
            <a:gdLst>
              <a:gd name="connsiteX0" fmla="*/ 0 w 588303"/>
              <a:gd name="connsiteY0" fmla="*/ 589691 h 623327"/>
              <a:gd name="connsiteX1" fmla="*/ 229874 w 588303"/>
              <a:gd name="connsiteY1" fmla="*/ 460357 h 623327"/>
              <a:gd name="connsiteX2" fmla="*/ 313183 w 588303"/>
              <a:gd name="connsiteY2" fmla="*/ 494867 h 623327"/>
              <a:gd name="connsiteX3" fmla="*/ 396835 w 588303"/>
              <a:gd name="connsiteY3" fmla="*/ 528999 h 623327"/>
              <a:gd name="connsiteX4" fmla="*/ 461465 w 588303"/>
              <a:gd name="connsiteY4" fmla="*/ 527479 h 623327"/>
              <a:gd name="connsiteX5" fmla="*/ 473562 w 588303"/>
              <a:gd name="connsiteY5" fmla="*/ 497530 h 623327"/>
              <a:gd name="connsiteX6" fmla="*/ 409961 w 588303"/>
              <a:gd name="connsiteY6" fmla="*/ 378051 h 623327"/>
              <a:gd name="connsiteX7" fmla="*/ 312485 w 588303"/>
              <a:gd name="connsiteY7" fmla="*/ 194856 h 623327"/>
              <a:gd name="connsiteX8" fmla="*/ 287947 w 588303"/>
              <a:gd name="connsiteY8" fmla="*/ 195233 h 623327"/>
              <a:gd name="connsiteX9" fmla="*/ 210165 w 588303"/>
              <a:gd name="connsiteY9" fmla="*/ 340880 h 623327"/>
              <a:gd name="connsiteX10" fmla="*/ 204282 w 588303"/>
              <a:gd name="connsiteY10" fmla="*/ 354531 h 623327"/>
              <a:gd name="connsiteX11" fmla="*/ 281033 w 588303"/>
              <a:gd name="connsiteY11" fmla="*/ 391702 h 623327"/>
              <a:gd name="connsiteX12" fmla="*/ 320095 w 588303"/>
              <a:gd name="connsiteY12" fmla="*/ 422809 h 623327"/>
              <a:gd name="connsiteX13" fmla="*/ 332194 w 588303"/>
              <a:gd name="connsiteY13" fmla="*/ 443291 h 623327"/>
              <a:gd name="connsiteX14" fmla="*/ 310070 w 588303"/>
              <a:gd name="connsiteY14" fmla="*/ 441394 h 623327"/>
              <a:gd name="connsiteX15" fmla="*/ 225033 w 588303"/>
              <a:gd name="connsiteY15" fmla="*/ 419393 h 623327"/>
              <a:gd name="connsiteX16" fmla="*/ 76396 w 588303"/>
              <a:gd name="connsiteY16" fmla="*/ 446317 h 623327"/>
              <a:gd name="connsiteX17" fmla="*/ 59114 w 588303"/>
              <a:gd name="connsiteY17" fmla="*/ 446694 h 623327"/>
              <a:gd name="connsiteX18" fmla="*/ 62914 w 588303"/>
              <a:gd name="connsiteY18" fmla="*/ 429627 h 623327"/>
              <a:gd name="connsiteX19" fmla="*/ 282418 w 588303"/>
              <a:gd name="connsiteY19" fmla="*/ 15842 h 623327"/>
              <a:gd name="connsiteX20" fmla="*/ 317670 w 588303"/>
              <a:gd name="connsiteY20" fmla="*/ 16595 h 623327"/>
              <a:gd name="connsiteX21" fmla="*/ 576579 w 588303"/>
              <a:gd name="connsiteY21" fmla="*/ 502074 h 623327"/>
              <a:gd name="connsiteX22" fmla="*/ 559983 w 588303"/>
              <a:gd name="connsiteY22" fmla="*/ 581718 h 623327"/>
              <a:gd name="connsiteX23" fmla="*/ 331837 w 588303"/>
              <a:gd name="connsiteY23" fmla="*/ 594237 h 623327"/>
              <a:gd name="connsiteX24" fmla="*/ 274108 w 588303"/>
              <a:gd name="connsiteY24" fmla="*/ 563898 h 623327"/>
              <a:gd name="connsiteX25" fmla="*/ 86764 w 588303"/>
              <a:gd name="connsiteY25" fmla="*/ 552143 h 623327"/>
              <a:gd name="connsiteX26" fmla="*/ 17981 w 588303"/>
              <a:gd name="connsiteY26" fmla="*/ 582107 h 623327"/>
              <a:gd name="connsiteX27" fmla="*/ 0 w 588303"/>
              <a:gd name="connsiteY27" fmla="*/ 589691 h 623327"/>
              <a:gd name="connsiteX28" fmla="*/ 0 w 588303"/>
              <a:gd name="connsiteY28" fmla="*/ 589691 h 62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588303" h="623327">
                <a:moveTo>
                  <a:pt x="0" y="589691"/>
                </a:moveTo>
                <a:cubicBezTo>
                  <a:pt x="50816" y="486905"/>
                  <a:pt x="143452" y="439499"/>
                  <a:pt x="229874" y="460357"/>
                </a:cubicBezTo>
                <a:cubicBezTo>
                  <a:pt x="258555" y="467175"/>
                  <a:pt x="285520" y="483111"/>
                  <a:pt x="313183" y="494867"/>
                </a:cubicBezTo>
                <a:cubicBezTo>
                  <a:pt x="340835" y="506620"/>
                  <a:pt x="368141" y="521790"/>
                  <a:pt x="396835" y="528999"/>
                </a:cubicBezTo>
                <a:cubicBezTo>
                  <a:pt x="417218" y="534312"/>
                  <a:pt x="440040" y="530518"/>
                  <a:pt x="461465" y="527479"/>
                </a:cubicBezTo>
                <a:cubicBezTo>
                  <a:pt x="481172" y="524830"/>
                  <a:pt x="483588" y="516492"/>
                  <a:pt x="473562" y="497530"/>
                </a:cubicBezTo>
                <a:cubicBezTo>
                  <a:pt x="452480" y="457694"/>
                  <a:pt x="431055" y="417873"/>
                  <a:pt x="409961" y="378051"/>
                </a:cubicBezTo>
                <a:cubicBezTo>
                  <a:pt x="409961" y="378051"/>
                  <a:pt x="312485" y="194856"/>
                  <a:pt x="312485" y="194856"/>
                </a:cubicBezTo>
                <a:cubicBezTo>
                  <a:pt x="301771" y="174750"/>
                  <a:pt x="298659" y="175141"/>
                  <a:pt x="287947" y="195233"/>
                </a:cubicBezTo>
                <a:cubicBezTo>
                  <a:pt x="287947" y="195233"/>
                  <a:pt x="210165" y="340880"/>
                  <a:pt x="210165" y="340880"/>
                </a:cubicBezTo>
                <a:cubicBezTo>
                  <a:pt x="207751" y="345427"/>
                  <a:pt x="206022" y="350739"/>
                  <a:pt x="204282" y="354531"/>
                </a:cubicBezTo>
                <a:cubicBezTo>
                  <a:pt x="230903" y="367441"/>
                  <a:pt x="256495" y="378051"/>
                  <a:pt x="281033" y="391702"/>
                </a:cubicBezTo>
                <a:cubicBezTo>
                  <a:pt x="295203" y="399663"/>
                  <a:pt x="307643" y="411432"/>
                  <a:pt x="320095" y="422809"/>
                </a:cubicBezTo>
                <a:cubicBezTo>
                  <a:pt x="325611" y="427732"/>
                  <a:pt x="328038" y="436459"/>
                  <a:pt x="332194" y="443291"/>
                </a:cubicBezTo>
                <a:cubicBezTo>
                  <a:pt x="324925" y="442525"/>
                  <a:pt x="317326" y="443291"/>
                  <a:pt x="310070" y="441394"/>
                </a:cubicBezTo>
                <a:cubicBezTo>
                  <a:pt x="281720" y="434187"/>
                  <a:pt x="253726" y="422809"/>
                  <a:pt x="225033" y="419393"/>
                </a:cubicBezTo>
                <a:cubicBezTo>
                  <a:pt x="173873" y="413327"/>
                  <a:pt x="124443" y="428498"/>
                  <a:pt x="76396" y="446317"/>
                </a:cubicBezTo>
                <a:cubicBezTo>
                  <a:pt x="71211" y="448212"/>
                  <a:pt x="64997" y="446694"/>
                  <a:pt x="59114" y="446694"/>
                </a:cubicBezTo>
                <a:cubicBezTo>
                  <a:pt x="60500" y="441005"/>
                  <a:pt x="60500" y="434562"/>
                  <a:pt x="62914" y="429627"/>
                </a:cubicBezTo>
                <a:cubicBezTo>
                  <a:pt x="135154" y="291577"/>
                  <a:pt x="208793" y="153529"/>
                  <a:pt x="282418" y="15842"/>
                </a:cubicBezTo>
                <a:cubicBezTo>
                  <a:pt x="293817" y="-5783"/>
                  <a:pt x="306271" y="-5016"/>
                  <a:pt x="317670" y="16595"/>
                </a:cubicBezTo>
                <a:cubicBezTo>
                  <a:pt x="404078" y="178556"/>
                  <a:pt x="490157" y="340126"/>
                  <a:pt x="576579" y="502074"/>
                </a:cubicBezTo>
                <a:cubicBezTo>
                  <a:pt x="595578" y="538117"/>
                  <a:pt x="592476" y="560104"/>
                  <a:pt x="559983" y="581718"/>
                </a:cubicBezTo>
                <a:cubicBezTo>
                  <a:pt x="486357" y="631408"/>
                  <a:pt x="409961" y="637851"/>
                  <a:pt x="331837" y="594237"/>
                </a:cubicBezTo>
                <a:cubicBezTo>
                  <a:pt x="312839" y="583613"/>
                  <a:pt x="293130" y="574898"/>
                  <a:pt x="274108" y="563898"/>
                </a:cubicBezTo>
                <a:cubicBezTo>
                  <a:pt x="213278" y="528622"/>
                  <a:pt x="150366" y="528622"/>
                  <a:pt x="86764" y="552143"/>
                </a:cubicBezTo>
                <a:cubicBezTo>
                  <a:pt x="63257" y="560481"/>
                  <a:pt x="40802" y="572235"/>
                  <a:pt x="17981" y="582107"/>
                </a:cubicBezTo>
                <a:cubicBezTo>
                  <a:pt x="13482" y="583990"/>
                  <a:pt x="8996" y="585899"/>
                  <a:pt x="0" y="589691"/>
                </a:cubicBezTo>
                <a:cubicBezTo>
                  <a:pt x="0" y="589691"/>
                  <a:pt x="0" y="589691"/>
                  <a:pt x="0" y="589691"/>
                </a:cubicBezTo>
              </a:path>
            </a:pathLst>
          </a:custGeom>
          <a:solidFill>
            <a:srgbClr val="D5DDE0"/>
          </a:solidFill>
          <a:ln w="155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1D1C1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38" name="Group 37" descr="AWS Cloud group with AWS logo.">
            <a:extLst>
              <a:ext uri="{FF2B5EF4-FFF2-40B4-BE49-F238E27FC236}">
                <a16:creationId xmlns:a16="http://schemas.microsoft.com/office/drawing/2014/main" id="{A7AE2B62-63B1-D574-A7C4-F50B22E99BE1}"/>
              </a:ext>
            </a:extLst>
          </p:cNvPr>
          <p:cNvGrpSpPr/>
          <p:nvPr/>
        </p:nvGrpSpPr>
        <p:grpSpPr>
          <a:xfrm>
            <a:off x="1859496" y="1212333"/>
            <a:ext cx="8666417" cy="5471706"/>
            <a:chOff x="355600" y="1512745"/>
            <a:chExt cx="1765300" cy="890588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8238E3C-2A48-A0EA-E9BF-E5D1DA55D819}"/>
                </a:ext>
              </a:extLst>
            </p:cNvPr>
            <p:cNvSpPr/>
            <p:nvPr/>
          </p:nvSpPr>
          <p:spPr>
            <a:xfrm>
              <a:off x="355600" y="1512745"/>
              <a:ext cx="1765300" cy="890588"/>
            </a:xfrm>
            <a:prstGeom prst="rect">
              <a:avLst/>
            </a:prstGeom>
            <a:noFill/>
            <a:ln w="158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0" name="Graphic 39" descr="AWS Cloud group icon with AWS logo.">
              <a:extLst>
                <a:ext uri="{FF2B5EF4-FFF2-40B4-BE49-F238E27FC236}">
                  <a16:creationId xmlns:a16="http://schemas.microsoft.com/office/drawing/2014/main" id="{AB08B3D4-8D8C-D992-E1A0-96D7D6D2F74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355600" y="1512745"/>
              <a:ext cx="46287" cy="46287"/>
            </a:xfrm>
            <a:prstGeom prst="rect">
              <a:avLst/>
            </a:prstGeom>
          </p:spPr>
        </p:pic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63DC1FDE-0A73-1790-F3C0-9B50AFCACC63}"/>
              </a:ext>
            </a:extLst>
          </p:cNvPr>
          <p:cNvSpPr txBox="1"/>
          <p:nvPr/>
        </p:nvSpPr>
        <p:spPr>
          <a:xfrm>
            <a:off x="2039354" y="1100982"/>
            <a:ext cx="10680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9E5AC5-17BB-E98A-195E-DEF96885145C}"/>
              </a:ext>
            </a:extLst>
          </p:cNvPr>
          <p:cNvSpPr txBox="1"/>
          <p:nvPr/>
        </p:nvSpPr>
        <p:spPr>
          <a:xfrm>
            <a:off x="2270766" y="1529877"/>
            <a:ext cx="1710203" cy="25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Virtual private cloud (VPC)</a:t>
            </a:r>
          </a:p>
        </p:txBody>
      </p:sp>
      <p:pic>
        <p:nvPicPr>
          <p:cNvPr id="43" name="Graphic 8" descr="Amazon Simple Storage Service (Amazon S3) service icon.">
            <a:extLst>
              <a:ext uri="{FF2B5EF4-FFF2-40B4-BE49-F238E27FC236}">
                <a16:creationId xmlns:a16="http://schemas.microsoft.com/office/drawing/2014/main" id="{B6E6DEB3-6755-F8AB-B866-B8AA61646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6002717" y="4465442"/>
            <a:ext cx="380780" cy="380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TextBox 9">
            <a:extLst>
              <a:ext uri="{FF2B5EF4-FFF2-40B4-BE49-F238E27FC236}">
                <a16:creationId xmlns:a16="http://schemas.microsoft.com/office/drawing/2014/main" id="{CDDB8B41-8335-6147-FB2D-10E5BF9FA4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6417" y="4380078"/>
            <a:ext cx="127237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19105B"/>
                </a:solidFill>
                <a:latin typeface="Arial"/>
                <a:cs typeface="Arial"/>
              </a:rPr>
              <a:t>Amazon Simple Storage Service (Amazon S3)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B3A4D019-0203-B8EA-F59C-3A35279011C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1892" y="1699592"/>
            <a:ext cx="1221569" cy="336610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C97FAE17-9844-1EAB-382D-5DC552378202}"/>
              </a:ext>
            </a:extLst>
          </p:cNvPr>
          <p:cNvGrpSpPr/>
          <p:nvPr/>
        </p:nvGrpSpPr>
        <p:grpSpPr>
          <a:xfrm>
            <a:off x="10909629" y="3058909"/>
            <a:ext cx="919700" cy="966150"/>
            <a:chOff x="8607744" y="1670810"/>
            <a:chExt cx="694711" cy="698559"/>
          </a:xfrm>
        </p:grpSpPr>
        <p:pic>
          <p:nvPicPr>
            <p:cNvPr id="47" name="Picture 18">
              <a:extLst>
                <a:ext uri="{FF2B5EF4-FFF2-40B4-BE49-F238E27FC236}">
                  <a16:creationId xmlns:a16="http://schemas.microsoft.com/office/drawing/2014/main" id="{3AD74513-27F2-923E-D86B-9654696ED8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8607744" y="1670810"/>
              <a:ext cx="694711" cy="4351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0951D9D-3D2C-69E6-FB68-76FE395DB5EF}"/>
                </a:ext>
              </a:extLst>
            </p:cNvPr>
            <p:cNvSpPr/>
            <p:nvPr/>
          </p:nvSpPr>
          <p:spPr>
            <a:xfrm>
              <a:off x="8666476" y="2229620"/>
              <a:ext cx="577247" cy="13974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buClr>
                  <a:schemeClr val="accent1"/>
                </a:buClr>
                <a:buSzPct val="120000"/>
              </a:pPr>
              <a:endParaRPr lang="en-GB" sz="900" b="1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E581C3A8-8BC5-8AFB-1F55-FC532CF91C8E}"/>
              </a:ext>
            </a:extLst>
          </p:cNvPr>
          <p:cNvSpPr txBox="1"/>
          <p:nvPr/>
        </p:nvSpPr>
        <p:spPr>
          <a:xfrm>
            <a:off x="262623" y="1931986"/>
            <a:ext cx="13981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API Endpoint</a:t>
            </a:r>
          </a:p>
        </p:txBody>
      </p:sp>
      <p:pic>
        <p:nvPicPr>
          <p:cNvPr id="51" name="Graphic 50" descr="NAT gateway resource icon for the Amazon VPC service.&#10;">
            <a:extLst>
              <a:ext uri="{FF2B5EF4-FFF2-40B4-BE49-F238E27FC236}">
                <a16:creationId xmlns:a16="http://schemas.microsoft.com/office/drawing/2014/main" id="{00F9AAE0-0759-2A65-36D5-FF713CD5C42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21100" y="2935060"/>
            <a:ext cx="259626" cy="259626"/>
          </a:xfrm>
          <a:prstGeom prst="rect">
            <a:avLst/>
          </a:prstGeom>
        </p:spPr>
      </p:pic>
      <p:pic>
        <p:nvPicPr>
          <p:cNvPr id="52" name="Graphic 6" descr="AWS Glue service icon.">
            <a:extLst>
              <a:ext uri="{FF2B5EF4-FFF2-40B4-BE49-F238E27FC236}">
                <a16:creationId xmlns:a16="http://schemas.microsoft.com/office/drawing/2014/main" id="{1961B949-8EB5-B5ED-A08E-8A5306912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 bwMode="auto">
          <a:xfrm>
            <a:off x="6365006" y="3679211"/>
            <a:ext cx="331252" cy="331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" name="TextBox 10">
            <a:extLst>
              <a:ext uri="{FF2B5EF4-FFF2-40B4-BE49-F238E27FC236}">
                <a16:creationId xmlns:a16="http://schemas.microsoft.com/office/drawing/2014/main" id="{374C595E-1A6A-0FDB-8F4B-2FAAC64752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9692" y="3987568"/>
            <a:ext cx="145607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19105B"/>
                </a:solidFill>
                <a:latin typeface="Arial"/>
                <a:cs typeface="Arial"/>
              </a:rPr>
              <a:t>AWS</a:t>
            </a:r>
            <a:r>
              <a:rPr lang="en-US" altLang="en-US" sz="10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000" dirty="0">
                <a:solidFill>
                  <a:srgbClr val="19105B"/>
                </a:solidFill>
                <a:latin typeface="Arial"/>
                <a:cs typeface="Arial"/>
              </a:rPr>
              <a:t>Glue</a:t>
            </a:r>
          </a:p>
        </p:txBody>
      </p:sp>
      <p:pic>
        <p:nvPicPr>
          <p:cNvPr id="54" name="Graphic 17" descr="AWS Secrets Manager service icon.">
            <a:extLst>
              <a:ext uri="{FF2B5EF4-FFF2-40B4-BE49-F238E27FC236}">
                <a16:creationId xmlns:a16="http://schemas.microsoft.com/office/drawing/2014/main" id="{9C79F725-3777-D80E-3EBF-6872C1DEB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6048123" y="5149233"/>
            <a:ext cx="332673" cy="332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" name="Graphic 21" descr="AWS CodeCommit service icon.">
            <a:extLst>
              <a:ext uri="{FF2B5EF4-FFF2-40B4-BE49-F238E27FC236}">
                <a16:creationId xmlns:a16="http://schemas.microsoft.com/office/drawing/2014/main" id="{CF6DF2FA-451F-6CE9-6E6F-AFCFB4FA2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6086076" y="5862892"/>
            <a:ext cx="353710" cy="353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" name="Graphic 6" descr="AWS CodePipeline service icon.">
            <a:extLst>
              <a:ext uri="{FF2B5EF4-FFF2-40B4-BE49-F238E27FC236}">
                <a16:creationId xmlns:a16="http://schemas.microsoft.com/office/drawing/2014/main" id="{5314C2E5-DE7E-F109-D870-A73BDC098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7045056" y="5876642"/>
            <a:ext cx="367624" cy="367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" name="Graphic 19" descr="AWS CodeBuild service icon.">
            <a:extLst>
              <a:ext uri="{FF2B5EF4-FFF2-40B4-BE49-F238E27FC236}">
                <a16:creationId xmlns:a16="http://schemas.microsoft.com/office/drawing/2014/main" id="{C6A5F69B-4456-97FD-5EBC-0659C5A23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 bwMode="auto">
          <a:xfrm>
            <a:off x="8114001" y="5872614"/>
            <a:ext cx="367623" cy="367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" name="TextBox 11">
            <a:extLst>
              <a:ext uri="{FF2B5EF4-FFF2-40B4-BE49-F238E27FC236}">
                <a16:creationId xmlns:a16="http://schemas.microsoft.com/office/drawing/2014/main" id="{9FFD9D8F-E4FA-8D54-CB4E-6BFA77928E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6516" y="6270601"/>
            <a:ext cx="117030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rgbClr val="19105B"/>
                </a:solidFill>
                <a:latin typeface="Arial"/>
                <a:cs typeface="Arial"/>
              </a:rPr>
              <a:t>AWS CodeBuild</a:t>
            </a:r>
          </a:p>
        </p:txBody>
      </p:sp>
      <p:pic>
        <p:nvPicPr>
          <p:cNvPr id="59" name="Graphic 17" descr="Amazon CloudWatch service icon.">
            <a:extLst>
              <a:ext uri="{FF2B5EF4-FFF2-40B4-BE49-F238E27FC236}">
                <a16:creationId xmlns:a16="http://schemas.microsoft.com/office/drawing/2014/main" id="{E3646039-B067-5DFF-A652-4D64911B6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 bwMode="auto">
          <a:xfrm>
            <a:off x="7018403" y="5139507"/>
            <a:ext cx="340488" cy="34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Graphic 22" descr="AWS Shield service icon.">
            <a:extLst>
              <a:ext uri="{FF2B5EF4-FFF2-40B4-BE49-F238E27FC236}">
                <a16:creationId xmlns:a16="http://schemas.microsoft.com/office/drawing/2014/main" id="{A3589DCC-A39E-36BE-9F6B-10072882ED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 bwMode="auto">
          <a:xfrm>
            <a:off x="8083250" y="5151235"/>
            <a:ext cx="348066" cy="348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7338356-457F-C8F1-0FD9-77CED423CEB7}"/>
              </a:ext>
            </a:extLst>
          </p:cNvPr>
          <p:cNvCxnSpPr>
            <a:cxnSpLocks/>
          </p:cNvCxnSpPr>
          <p:nvPr/>
        </p:nvCxnSpPr>
        <p:spPr>
          <a:xfrm flipV="1">
            <a:off x="1167006" y="2950762"/>
            <a:ext cx="1000861" cy="8212"/>
          </a:xfrm>
          <a:prstGeom prst="straightConnector1">
            <a:avLst/>
          </a:prstGeom>
          <a:ln w="12700">
            <a:solidFill>
              <a:srgbClr val="00206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Graphic 14" descr="Amazon Athena service icon.">
            <a:extLst>
              <a:ext uri="{FF2B5EF4-FFF2-40B4-BE49-F238E27FC236}">
                <a16:creationId xmlns:a16="http://schemas.microsoft.com/office/drawing/2014/main" id="{5269F921-1C8D-3DAE-2B7E-3443CF0093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 bwMode="auto">
          <a:xfrm>
            <a:off x="9997251" y="3187919"/>
            <a:ext cx="359405" cy="359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" name="TextBox 17">
            <a:extLst>
              <a:ext uri="{FF2B5EF4-FFF2-40B4-BE49-F238E27FC236}">
                <a16:creationId xmlns:a16="http://schemas.microsoft.com/office/drawing/2014/main" id="{16C68EA7-99D3-0B89-627C-C056B4DD1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3347" y="3559664"/>
            <a:ext cx="8101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19105B"/>
                </a:solidFill>
                <a:latin typeface="Arial"/>
                <a:cs typeface="Arial"/>
              </a:rPr>
              <a:t>Amazon Athena</a:t>
            </a:r>
          </a:p>
        </p:txBody>
      </p: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A75BC433-7D1B-4F73-B3CA-B4960F7A77C8}"/>
              </a:ext>
            </a:extLst>
          </p:cNvPr>
          <p:cNvCxnSpPr>
            <a:cxnSpLocks/>
          </p:cNvCxnSpPr>
          <p:nvPr/>
        </p:nvCxnSpPr>
        <p:spPr>
          <a:xfrm flipV="1">
            <a:off x="6536509" y="3371395"/>
            <a:ext cx="1683836" cy="98410"/>
          </a:xfrm>
          <a:prstGeom prst="bentConnector2">
            <a:avLst/>
          </a:prstGeom>
          <a:ln w="6350">
            <a:solidFill>
              <a:srgbClr val="002060"/>
            </a:solidFill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F8E4136B-CD97-6145-B6B4-4D2AF7521A49}"/>
              </a:ext>
            </a:extLst>
          </p:cNvPr>
          <p:cNvCxnSpPr>
            <a:cxnSpLocks/>
            <a:endCxn id="34" idx="2"/>
          </p:cNvCxnSpPr>
          <p:nvPr/>
        </p:nvCxnSpPr>
        <p:spPr>
          <a:xfrm rot="10800000">
            <a:off x="4686215" y="3384238"/>
            <a:ext cx="1874657" cy="77979"/>
          </a:xfrm>
          <a:prstGeom prst="bentConnector2">
            <a:avLst/>
          </a:prstGeom>
          <a:ln w="6350">
            <a:solidFill>
              <a:srgbClr val="002060"/>
            </a:solidFill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F54E9BD5-3F03-53F3-3F34-46BCBC08830E}"/>
              </a:ext>
            </a:extLst>
          </p:cNvPr>
          <p:cNvSpPr txBox="1"/>
          <p:nvPr/>
        </p:nvSpPr>
        <p:spPr>
          <a:xfrm>
            <a:off x="10868722" y="1865015"/>
            <a:ext cx="11873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196"/>
              </a:buClr>
              <a:buSzPct val="120000"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19105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Reporting</a:t>
            </a:r>
          </a:p>
        </p:txBody>
      </p:sp>
      <p:pic>
        <p:nvPicPr>
          <p:cNvPr id="72" name="Graphic 10" descr="AWS Lambda service icon.">
            <a:extLst>
              <a:ext uri="{FF2B5EF4-FFF2-40B4-BE49-F238E27FC236}">
                <a16:creationId xmlns:a16="http://schemas.microsoft.com/office/drawing/2014/main" id="{5B530440-BF3D-E2CF-23E1-69A9ED510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 bwMode="auto">
          <a:xfrm>
            <a:off x="2586710" y="3602703"/>
            <a:ext cx="314032" cy="314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Graphic 73" descr="Internet resource icon for the General Icons category.">
            <a:extLst>
              <a:ext uri="{FF2B5EF4-FFF2-40B4-BE49-F238E27FC236}">
                <a16:creationId xmlns:a16="http://schemas.microsoft.com/office/drawing/2014/main" id="{7D6CD043-7A91-0872-0DA8-2464FE81227F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36172" y="2466935"/>
            <a:ext cx="579740" cy="646657"/>
          </a:xfrm>
          <a:prstGeom prst="rect">
            <a:avLst/>
          </a:prstGeom>
        </p:spPr>
      </p:pic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56966B8-D6AF-8C1B-8D9E-26C1169BC8A8}"/>
              </a:ext>
            </a:extLst>
          </p:cNvPr>
          <p:cNvCxnSpPr>
            <a:cxnSpLocks/>
          </p:cNvCxnSpPr>
          <p:nvPr/>
        </p:nvCxnSpPr>
        <p:spPr>
          <a:xfrm>
            <a:off x="856403" y="2176116"/>
            <a:ext cx="0" cy="343056"/>
          </a:xfrm>
          <a:prstGeom prst="straightConnector1">
            <a:avLst/>
          </a:prstGeom>
          <a:ln w="12700">
            <a:solidFill>
              <a:srgbClr val="00206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 descr="Private subnet group.">
            <a:extLst>
              <a:ext uri="{FF2B5EF4-FFF2-40B4-BE49-F238E27FC236}">
                <a16:creationId xmlns:a16="http://schemas.microsoft.com/office/drawing/2014/main" id="{7D3BE257-AB60-49DA-F02A-87470AA75981}"/>
              </a:ext>
            </a:extLst>
          </p:cNvPr>
          <p:cNvGrpSpPr/>
          <p:nvPr/>
        </p:nvGrpSpPr>
        <p:grpSpPr>
          <a:xfrm>
            <a:off x="3564868" y="1753461"/>
            <a:ext cx="6034905" cy="3229264"/>
            <a:chOff x="4215623" y="2618865"/>
            <a:chExt cx="1765300" cy="889002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D65CA6AC-54F3-A911-6B44-6ACD73ED180E}"/>
                </a:ext>
              </a:extLst>
            </p:cNvPr>
            <p:cNvSpPr/>
            <p:nvPr/>
          </p:nvSpPr>
          <p:spPr>
            <a:xfrm>
              <a:off x="4215623" y="2618865"/>
              <a:ext cx="1765300" cy="889002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 bIns="4572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5" name="Graphic 84" descr="Private subnet group icon. ">
              <a:extLst>
                <a:ext uri="{FF2B5EF4-FFF2-40B4-BE49-F238E27FC236}">
                  <a16:creationId xmlns:a16="http://schemas.microsoft.com/office/drawing/2014/main" id="{02B5FD94-5CD5-D0FA-9D4B-CFD40F71B4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rcRect/>
            <a:stretch/>
          </p:blipFill>
          <p:spPr>
            <a:xfrm>
              <a:off x="4215623" y="2618865"/>
              <a:ext cx="71156" cy="71155"/>
            </a:xfrm>
            <a:prstGeom prst="rect">
              <a:avLst/>
            </a:prstGeom>
          </p:spPr>
        </p:pic>
      </p:grp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8775092A-7D22-9BC4-2790-04872405A3B3}"/>
              </a:ext>
            </a:extLst>
          </p:cNvPr>
          <p:cNvCxnSpPr>
            <a:cxnSpLocks/>
          </p:cNvCxnSpPr>
          <p:nvPr/>
        </p:nvCxnSpPr>
        <p:spPr>
          <a:xfrm>
            <a:off x="6503130" y="3405964"/>
            <a:ext cx="0" cy="254809"/>
          </a:xfrm>
          <a:prstGeom prst="straightConnector1">
            <a:avLst/>
          </a:prstGeom>
          <a:ln w="12700">
            <a:solidFill>
              <a:srgbClr val="00206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20">
            <a:extLst>
              <a:ext uri="{FF2B5EF4-FFF2-40B4-BE49-F238E27FC236}">
                <a16:creationId xmlns:a16="http://schemas.microsoft.com/office/drawing/2014/main" id="{818E0FF3-4171-A556-AAEC-33069763C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2855" y="3956050"/>
            <a:ext cx="100086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19105B"/>
                </a:solidFill>
                <a:latin typeface="Arial"/>
                <a:cs typeface="Arial"/>
              </a:rPr>
              <a:t>AWS Lambda</a:t>
            </a:r>
          </a:p>
        </p:txBody>
      </p:sp>
      <p:pic>
        <p:nvPicPr>
          <p:cNvPr id="92" name="Graphic 91" descr="Endpoints resource icon for the Amazon VPC service.&#10;">
            <a:extLst>
              <a:ext uri="{FF2B5EF4-FFF2-40B4-BE49-F238E27FC236}">
                <a16:creationId xmlns:a16="http://schemas.microsoft.com/office/drawing/2014/main" id="{364B6FC9-2A38-0E21-C21F-BC90CE4E2CA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8736639" y="3663722"/>
            <a:ext cx="383599" cy="383599"/>
          </a:xfrm>
          <a:prstGeom prst="rect">
            <a:avLst/>
          </a:prstGeom>
        </p:spPr>
      </p:pic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60157F15-567F-509D-A767-01EEE5AC0C03}"/>
              </a:ext>
            </a:extLst>
          </p:cNvPr>
          <p:cNvCxnSpPr>
            <a:cxnSpLocks/>
          </p:cNvCxnSpPr>
          <p:nvPr/>
        </p:nvCxnSpPr>
        <p:spPr>
          <a:xfrm flipH="1">
            <a:off x="9201175" y="3387470"/>
            <a:ext cx="721013" cy="416591"/>
          </a:xfrm>
          <a:prstGeom prst="straightConnector1">
            <a:avLst/>
          </a:prstGeom>
          <a:ln w="12700">
            <a:solidFill>
              <a:srgbClr val="00206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D920A1C-9237-6F1F-C1CD-61D8DBBBAFB7}"/>
              </a:ext>
            </a:extLst>
          </p:cNvPr>
          <p:cNvCxnSpPr>
            <a:cxnSpLocks/>
          </p:cNvCxnSpPr>
          <p:nvPr/>
        </p:nvCxnSpPr>
        <p:spPr>
          <a:xfrm flipH="1" flipV="1">
            <a:off x="6529162" y="4141059"/>
            <a:ext cx="7347" cy="294518"/>
          </a:xfrm>
          <a:prstGeom prst="straightConnector1">
            <a:avLst/>
          </a:prstGeom>
          <a:ln w="12700">
            <a:solidFill>
              <a:srgbClr val="00206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9" descr="Amazon EventBridge service icon.">
            <a:extLst>
              <a:ext uri="{FF2B5EF4-FFF2-40B4-BE49-F238E27FC236}">
                <a16:creationId xmlns:a16="http://schemas.microsoft.com/office/drawing/2014/main" id="{21A4A52B-E88B-D64B-C021-7B8864141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/>
        </p:blipFill>
        <p:spPr bwMode="auto">
          <a:xfrm>
            <a:off x="2550677" y="2429335"/>
            <a:ext cx="351739" cy="351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" name="TextBox 20">
            <a:extLst>
              <a:ext uri="{FF2B5EF4-FFF2-40B4-BE49-F238E27FC236}">
                <a16:creationId xmlns:a16="http://schemas.microsoft.com/office/drawing/2014/main" id="{86FD7B9A-AE30-9D60-6732-D6A52E59A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0050" y="2754693"/>
            <a:ext cx="100086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0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</a:t>
            </a:r>
            <a:r>
              <a:rPr lang="en-US" altLang="en-US" sz="10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EventBridge</a:t>
            </a:r>
            <a:endParaRPr lang="en-US" altLang="en-US" sz="10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  <a:p>
            <a:pPr algn="ctr" eaLnBrk="1" hangingPunct="1"/>
            <a:endParaRPr lang="en-US" altLang="en-US" sz="1000" dirty="0">
              <a:solidFill>
                <a:srgbClr val="19105B"/>
              </a:solidFill>
              <a:latin typeface="Arial"/>
              <a:cs typeface="Arial"/>
            </a:endParaRP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8B225310-3A3D-4C51-51AC-5AC3D38C5CBA}"/>
              </a:ext>
            </a:extLst>
          </p:cNvPr>
          <p:cNvCxnSpPr>
            <a:cxnSpLocks/>
          </p:cNvCxnSpPr>
          <p:nvPr/>
        </p:nvCxnSpPr>
        <p:spPr>
          <a:xfrm>
            <a:off x="2777924" y="3146440"/>
            <a:ext cx="0" cy="400884"/>
          </a:xfrm>
          <a:prstGeom prst="straightConnector1">
            <a:avLst/>
          </a:prstGeom>
          <a:ln w="12700">
            <a:solidFill>
              <a:srgbClr val="00206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Graphic 8" descr="Amazon Simple Storage Service (Amazon S3) service icon.">
            <a:extLst>
              <a:ext uri="{FF2B5EF4-FFF2-40B4-BE49-F238E27FC236}">
                <a16:creationId xmlns:a16="http://schemas.microsoft.com/office/drawing/2014/main" id="{23D11ACE-F7E6-8B5A-B708-672000512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3846348" y="3674719"/>
            <a:ext cx="380780" cy="380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8" name="Group 87" descr="Public subnet group.">
            <a:extLst>
              <a:ext uri="{FF2B5EF4-FFF2-40B4-BE49-F238E27FC236}">
                <a16:creationId xmlns:a16="http://schemas.microsoft.com/office/drawing/2014/main" id="{0C00E885-AAAA-E6B6-F531-463F025139DB}"/>
              </a:ext>
            </a:extLst>
          </p:cNvPr>
          <p:cNvGrpSpPr/>
          <p:nvPr/>
        </p:nvGrpSpPr>
        <p:grpSpPr>
          <a:xfrm>
            <a:off x="2162855" y="2341282"/>
            <a:ext cx="1243478" cy="885723"/>
            <a:chOff x="6147454" y="2618864"/>
            <a:chExt cx="1765300" cy="889003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D80923C5-6C50-FFAF-9E97-C004202DAD56}"/>
                </a:ext>
              </a:extLst>
            </p:cNvPr>
            <p:cNvSpPr/>
            <p:nvPr/>
          </p:nvSpPr>
          <p:spPr>
            <a:xfrm>
              <a:off x="6147454" y="2618865"/>
              <a:ext cx="1765300" cy="889002"/>
            </a:xfrm>
            <a:prstGeom prst="rect">
              <a:avLst/>
            </a:prstGeom>
            <a:noFill/>
            <a:ln w="15875">
              <a:solidFill>
                <a:srgbClr val="7AA11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 bIns="4572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1" name="Graphic 90" descr="Public subnet group icon. ">
              <a:extLst>
                <a:ext uri="{FF2B5EF4-FFF2-40B4-BE49-F238E27FC236}">
                  <a16:creationId xmlns:a16="http://schemas.microsoft.com/office/drawing/2014/main" id="{4222035F-FAA1-758A-2B4F-1F7A8A368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rcRect/>
            <a:stretch/>
          </p:blipFill>
          <p:spPr>
            <a:xfrm>
              <a:off x="6147454" y="2618864"/>
              <a:ext cx="234408" cy="234409"/>
            </a:xfrm>
            <a:prstGeom prst="rect">
              <a:avLst/>
            </a:prstGeom>
          </p:spPr>
        </p:pic>
      </p:grpSp>
      <p:grpSp>
        <p:nvGrpSpPr>
          <p:cNvPr id="93" name="Group 92" descr="Public subnet group.">
            <a:extLst>
              <a:ext uri="{FF2B5EF4-FFF2-40B4-BE49-F238E27FC236}">
                <a16:creationId xmlns:a16="http://schemas.microsoft.com/office/drawing/2014/main" id="{7411AD4D-1157-EE62-CE2C-0871FAA2D4EF}"/>
              </a:ext>
            </a:extLst>
          </p:cNvPr>
          <p:cNvGrpSpPr/>
          <p:nvPr/>
        </p:nvGrpSpPr>
        <p:grpSpPr>
          <a:xfrm>
            <a:off x="2131957" y="3441437"/>
            <a:ext cx="1292548" cy="847343"/>
            <a:chOff x="6147454" y="2618864"/>
            <a:chExt cx="1765300" cy="889003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8B9AB310-FD21-7A2B-9709-1FA9BD06A29F}"/>
                </a:ext>
              </a:extLst>
            </p:cNvPr>
            <p:cNvSpPr/>
            <p:nvPr/>
          </p:nvSpPr>
          <p:spPr>
            <a:xfrm>
              <a:off x="6147454" y="2618865"/>
              <a:ext cx="1765300" cy="889002"/>
            </a:xfrm>
            <a:prstGeom prst="rect">
              <a:avLst/>
            </a:prstGeom>
            <a:noFill/>
            <a:ln w="15875">
              <a:solidFill>
                <a:srgbClr val="7AA11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 bIns="4572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6" name="Graphic 95" descr="Public subnet group icon. ">
              <a:extLst>
                <a:ext uri="{FF2B5EF4-FFF2-40B4-BE49-F238E27FC236}">
                  <a16:creationId xmlns:a16="http://schemas.microsoft.com/office/drawing/2014/main" id="{8496C8A7-6213-7B93-6E32-DB28DC28BA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rcRect/>
            <a:stretch/>
          </p:blipFill>
          <p:spPr>
            <a:xfrm>
              <a:off x="6147454" y="2618864"/>
              <a:ext cx="234408" cy="234409"/>
            </a:xfrm>
            <a:prstGeom prst="rect">
              <a:avLst/>
            </a:prstGeom>
          </p:spPr>
        </p:pic>
      </p:grp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30EF2F73-AC9E-159F-968C-A55692447510}"/>
              </a:ext>
            </a:extLst>
          </p:cNvPr>
          <p:cNvCxnSpPr>
            <a:cxnSpLocks/>
          </p:cNvCxnSpPr>
          <p:nvPr/>
        </p:nvCxnSpPr>
        <p:spPr>
          <a:xfrm flipH="1" flipV="1">
            <a:off x="6814828" y="3860374"/>
            <a:ext cx="1855901" cy="14033"/>
          </a:xfrm>
          <a:prstGeom prst="straightConnector1">
            <a:avLst/>
          </a:prstGeom>
          <a:ln w="12700">
            <a:solidFill>
              <a:srgbClr val="00206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04E72A02-1A92-8533-D3B4-1EC0FAFD688F}"/>
              </a:ext>
            </a:extLst>
          </p:cNvPr>
          <p:cNvCxnSpPr>
            <a:cxnSpLocks/>
          </p:cNvCxnSpPr>
          <p:nvPr/>
        </p:nvCxnSpPr>
        <p:spPr>
          <a:xfrm>
            <a:off x="3260911" y="3859668"/>
            <a:ext cx="509901" cy="0"/>
          </a:xfrm>
          <a:prstGeom prst="straightConnector1">
            <a:avLst/>
          </a:prstGeom>
          <a:ln w="12700">
            <a:solidFill>
              <a:srgbClr val="00206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8" name="Graphic 107" descr="NAT gateway resource icon for the Amazon VPC service.&#10;">
            <a:extLst>
              <a:ext uri="{FF2B5EF4-FFF2-40B4-BE49-F238E27FC236}">
                <a16:creationId xmlns:a16="http://schemas.microsoft.com/office/drawing/2014/main" id="{4E376A0E-E573-CF7D-0552-9B4F97F2695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02483" y="3489321"/>
            <a:ext cx="259626" cy="259626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147E78D-BBB7-0886-285C-7A67A822C187}"/>
              </a:ext>
            </a:extLst>
          </p:cNvPr>
          <p:cNvCxnSpPr>
            <a:cxnSpLocks/>
          </p:cNvCxnSpPr>
          <p:nvPr/>
        </p:nvCxnSpPr>
        <p:spPr>
          <a:xfrm>
            <a:off x="10418600" y="3387470"/>
            <a:ext cx="509901" cy="0"/>
          </a:xfrm>
          <a:prstGeom prst="straightConnector1">
            <a:avLst/>
          </a:prstGeom>
          <a:ln w="12700">
            <a:solidFill>
              <a:srgbClr val="00206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9180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4F66B-1499-B65B-CFAE-C664EDEDD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8DFCE766-DA32-8B77-70CC-FAE88D39C548}"/>
              </a:ext>
            </a:extLst>
          </p:cNvPr>
          <p:cNvSpPr txBox="1">
            <a:spLocks/>
          </p:cNvSpPr>
          <p:nvPr/>
        </p:nvSpPr>
        <p:spPr>
          <a:xfrm>
            <a:off x="481262" y="2109916"/>
            <a:ext cx="11329737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b="1" dirty="0">
                <a:solidFill>
                  <a:schemeClr val="bg1">
                    <a:lumMod val="50000"/>
                  </a:schemeClr>
                </a:solidFill>
                <a:latin typeface="Arial (Body)"/>
              </a:rPr>
              <a:t>	AWS Data Platform Architecture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38B6C09-EE8B-9ABA-7BCF-BFD68923B7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8145" y="1967679"/>
            <a:ext cx="646267" cy="589892"/>
          </a:xfrm>
          <a:prstGeom prst="parallelogram">
            <a:avLst/>
          </a:prstGeom>
          <a:solidFill>
            <a:srgbClr val="C8C8C8"/>
          </a:solidFill>
        </p:spPr>
        <p:txBody>
          <a:bodyPr anchor="ctr"/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Arial (Body)"/>
              </a:rPr>
              <a:t>1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A4D4F3EB-4C8A-B18B-D874-4976CF4F2689}"/>
              </a:ext>
            </a:extLst>
          </p:cNvPr>
          <p:cNvSpPr txBox="1">
            <a:spLocks/>
          </p:cNvSpPr>
          <p:nvPr/>
        </p:nvSpPr>
        <p:spPr>
          <a:xfrm>
            <a:off x="427408" y="2812328"/>
            <a:ext cx="11329737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b="1" dirty="0">
                <a:solidFill>
                  <a:srgbClr val="C8C8C8"/>
                </a:solidFill>
                <a:latin typeface="Arial (Body)"/>
              </a:rPr>
              <a:t>	</a:t>
            </a:r>
            <a:r>
              <a:rPr lang="en-GB" sz="1600" b="1" dirty="0">
                <a:solidFill>
                  <a:srgbClr val="002060"/>
                </a:solidFill>
                <a:latin typeface="Arial (Body)"/>
              </a:rPr>
              <a:t>Azure Data Platform Architecture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720C7F1-B971-7A92-2870-539F56156132}"/>
              </a:ext>
            </a:extLst>
          </p:cNvPr>
          <p:cNvSpPr txBox="1">
            <a:spLocks/>
          </p:cNvSpPr>
          <p:nvPr/>
        </p:nvSpPr>
        <p:spPr>
          <a:xfrm>
            <a:off x="709291" y="2663216"/>
            <a:ext cx="646267" cy="589892"/>
          </a:xfrm>
          <a:prstGeom prst="parallelogram">
            <a:avLst/>
          </a:prstGeom>
          <a:solidFill>
            <a:srgbClr val="1CD0CD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b="1" dirty="0">
                <a:solidFill>
                  <a:schemeClr val="bg1"/>
                </a:solidFill>
                <a:latin typeface="Arial (Body)"/>
              </a:rPr>
              <a:t>2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C9699556-60E9-93EB-00D2-D481AAD27A2C}"/>
              </a:ext>
            </a:extLst>
          </p:cNvPr>
          <p:cNvSpPr txBox="1">
            <a:spLocks/>
          </p:cNvSpPr>
          <p:nvPr/>
        </p:nvSpPr>
        <p:spPr>
          <a:xfrm>
            <a:off x="344908" y="3492976"/>
            <a:ext cx="11329737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b="1" dirty="0">
                <a:solidFill>
                  <a:schemeClr val="bg1">
                    <a:lumMod val="50000"/>
                  </a:schemeClr>
                </a:solidFill>
                <a:latin typeface="Arial (Body)"/>
              </a:rPr>
              <a:t>	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Arial (Body)"/>
              </a:rPr>
              <a:t>Cost Estimation - AWS vs Azure</a:t>
            </a:r>
            <a:endParaRPr lang="en-GB" sz="1600" b="1" dirty="0">
              <a:solidFill>
                <a:schemeClr val="bg1">
                  <a:lumMod val="50000"/>
                </a:schemeClr>
              </a:solidFill>
              <a:latin typeface="Arial (Body)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C03CC4C-C285-8198-D7C6-093C2F66CFB0}"/>
              </a:ext>
            </a:extLst>
          </p:cNvPr>
          <p:cNvSpPr txBox="1">
            <a:spLocks/>
          </p:cNvSpPr>
          <p:nvPr/>
        </p:nvSpPr>
        <p:spPr>
          <a:xfrm>
            <a:off x="592416" y="3350739"/>
            <a:ext cx="646267" cy="589892"/>
          </a:xfrm>
          <a:prstGeom prst="parallelogram">
            <a:avLst/>
          </a:prstGeom>
          <a:solidFill>
            <a:schemeClr val="bg2">
              <a:lumMod val="9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b="1" dirty="0">
                <a:solidFill>
                  <a:schemeClr val="bg1"/>
                </a:solidFill>
                <a:latin typeface="Arial (Body)"/>
              </a:rPr>
              <a:t>3</a:t>
            </a:r>
          </a:p>
        </p:txBody>
      </p:sp>
      <p:sp>
        <p:nvSpPr>
          <p:cNvPr id="12" name="Title 9">
            <a:extLst>
              <a:ext uri="{FF2B5EF4-FFF2-40B4-BE49-F238E27FC236}">
                <a16:creationId xmlns:a16="http://schemas.microsoft.com/office/drawing/2014/main" id="{7A974BC7-F6B8-92D8-173C-5B411C840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645" y="515075"/>
            <a:ext cx="11430000" cy="958265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rgbClr val="002060"/>
                </a:solidFill>
                <a:latin typeface="Arial (Headings)"/>
              </a:rPr>
              <a:t>Agenda - AWS vs Azure Architecture</a:t>
            </a:r>
          </a:p>
        </p:txBody>
      </p:sp>
    </p:spTree>
    <p:extLst>
      <p:ext uri="{BB962C8B-B14F-4D97-AF65-F5344CB8AC3E}">
        <p14:creationId xmlns:p14="http://schemas.microsoft.com/office/powerpoint/2010/main" val="687117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A900B-506B-A506-50EC-9E886F68B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F6B25170-4E93-0A23-6EFF-8B627A3CE857}"/>
              </a:ext>
            </a:extLst>
          </p:cNvPr>
          <p:cNvSpPr txBox="1"/>
          <p:nvPr/>
        </p:nvSpPr>
        <p:spPr>
          <a:xfrm>
            <a:off x="10639010" y="599469"/>
            <a:ext cx="1366822" cy="323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500" b="1" dirty="0">
                <a:solidFill>
                  <a:srgbClr val="191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endParaRPr lang="en-IN" sz="1500" b="1" dirty="0">
              <a:solidFill>
                <a:srgbClr val="1910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37BB37-69FD-B2A0-5FA0-68F11A9475BA}"/>
              </a:ext>
            </a:extLst>
          </p:cNvPr>
          <p:cNvSpPr txBox="1"/>
          <p:nvPr/>
        </p:nvSpPr>
        <p:spPr>
          <a:xfrm>
            <a:off x="390673" y="605722"/>
            <a:ext cx="1445456" cy="323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500" b="1" dirty="0">
                <a:solidFill>
                  <a:srgbClr val="191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Sources</a:t>
            </a:r>
            <a:endParaRPr lang="en-IN" sz="1500" b="1" dirty="0">
              <a:solidFill>
                <a:srgbClr val="1910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676570-68AC-07C3-B8F2-0C8E2B9F432B}"/>
              </a:ext>
            </a:extLst>
          </p:cNvPr>
          <p:cNvSpPr/>
          <p:nvPr/>
        </p:nvSpPr>
        <p:spPr>
          <a:xfrm>
            <a:off x="3494432" y="6026964"/>
            <a:ext cx="6656855" cy="719279"/>
          </a:xfrm>
          <a:prstGeom prst="rect">
            <a:avLst/>
          </a:prstGeom>
          <a:noFill/>
          <a:ln w="9525">
            <a:solidFill>
              <a:schemeClr val="accent5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/>
          <a:p>
            <a:pPr>
              <a:buClr>
                <a:schemeClr val="accent1"/>
              </a:buClr>
              <a:buSzPct val="120000"/>
            </a:pPr>
            <a:r>
              <a:rPr lang="en-GB" sz="1000" b="1" dirty="0">
                <a:solidFill>
                  <a:srgbClr val="191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Version control &amp; CICD</a:t>
            </a:r>
          </a:p>
          <a:p>
            <a:pPr>
              <a:buClr>
                <a:schemeClr val="accent1"/>
              </a:buClr>
              <a:buSzPct val="120000"/>
            </a:pPr>
            <a:r>
              <a:rPr lang="en-GB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(Team collaboration,</a:t>
            </a:r>
          </a:p>
          <a:p>
            <a:pPr>
              <a:buClr>
                <a:schemeClr val="accent1"/>
              </a:buClr>
              <a:buSzPct val="120000"/>
            </a:pP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Automated release between </a:t>
            </a:r>
          </a:p>
          <a:p>
            <a:pPr>
              <a:buClr>
                <a:schemeClr val="accent1"/>
              </a:buClr>
              <a:buSzPct val="120000"/>
            </a:pP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environments)</a:t>
            </a:r>
            <a:endParaRPr lang="en-IN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F7F4FB88-51C5-AFB1-3722-2FBB2F260964}"/>
              </a:ext>
            </a:extLst>
          </p:cNvPr>
          <p:cNvCxnSpPr>
            <a:cxnSpLocks/>
          </p:cNvCxnSpPr>
          <p:nvPr/>
        </p:nvCxnSpPr>
        <p:spPr>
          <a:xfrm rot="16200000" flipV="1">
            <a:off x="6692917" y="2752372"/>
            <a:ext cx="204273" cy="0"/>
          </a:xfrm>
          <a:prstGeom prst="bentConnector3">
            <a:avLst/>
          </a:prstGeom>
          <a:ln w="6350">
            <a:solidFill>
              <a:schemeClr val="bg2"/>
            </a:solidFill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5448CDFB-25D4-B89D-C50C-A4001FBEC63D}"/>
              </a:ext>
            </a:extLst>
          </p:cNvPr>
          <p:cNvCxnSpPr>
            <a:cxnSpLocks/>
            <a:stCxn id="34" idx="3"/>
            <a:endCxn id="2083" idx="2"/>
          </p:cNvCxnSpPr>
          <p:nvPr/>
        </p:nvCxnSpPr>
        <p:spPr>
          <a:xfrm flipV="1">
            <a:off x="7410935" y="2960340"/>
            <a:ext cx="1511064" cy="467688"/>
          </a:xfrm>
          <a:prstGeom prst="bentConnector2">
            <a:avLst/>
          </a:prstGeom>
          <a:ln w="6350">
            <a:solidFill>
              <a:srgbClr val="002060"/>
            </a:solidFill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4" name="Picture 4">
            <a:extLst>
              <a:ext uri="{FF2B5EF4-FFF2-40B4-BE49-F238E27FC236}">
                <a16:creationId xmlns:a16="http://schemas.microsoft.com/office/drawing/2014/main" id="{542B9E97-A7DD-6A75-B75B-578C132DB5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935" y="3113028"/>
            <a:ext cx="1200000" cy="63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70F58A1A-7D4B-0A11-E3D9-C35F7DC87726}"/>
              </a:ext>
            </a:extLst>
          </p:cNvPr>
          <p:cNvGrpSpPr/>
          <p:nvPr/>
        </p:nvGrpSpPr>
        <p:grpSpPr>
          <a:xfrm>
            <a:off x="6425213" y="6084021"/>
            <a:ext cx="826385" cy="609464"/>
            <a:chOff x="5396171" y="4726607"/>
            <a:chExt cx="826385" cy="609464"/>
          </a:xfrm>
        </p:grpSpPr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4DF3E43C-EE25-B21C-0ED9-C898EFA7F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43641" y="4726607"/>
              <a:ext cx="577006" cy="414000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6580819-A1E8-89F3-964E-DB643AB50356}"/>
                </a:ext>
              </a:extLst>
            </p:cNvPr>
            <p:cNvSpPr txBox="1"/>
            <p:nvPr/>
          </p:nvSpPr>
          <p:spPr>
            <a:xfrm>
              <a:off x="5396171" y="5120627"/>
              <a:ext cx="82638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rgbClr val="002060"/>
                  </a:solidFill>
                </a:rPr>
                <a:t>Pull Requests</a:t>
              </a:r>
              <a:endParaRPr lang="en-IN" sz="800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31B0257-0F2B-1D80-96A0-8D8DF79C9A52}"/>
              </a:ext>
            </a:extLst>
          </p:cNvPr>
          <p:cNvGrpSpPr/>
          <p:nvPr/>
        </p:nvGrpSpPr>
        <p:grpSpPr>
          <a:xfrm>
            <a:off x="7384584" y="6123898"/>
            <a:ext cx="1027877" cy="551794"/>
            <a:chOff x="6607363" y="4772327"/>
            <a:chExt cx="1027877" cy="551794"/>
          </a:xfrm>
        </p:grpSpPr>
        <p:pic>
          <p:nvPicPr>
            <p:cNvPr id="50" name="Picture 8" descr="Azure Pipelines | Slack App Directory">
              <a:extLst>
                <a:ext uri="{FF2B5EF4-FFF2-40B4-BE49-F238E27FC236}">
                  <a16:creationId xmlns:a16="http://schemas.microsoft.com/office/drawing/2014/main" id="{2D699B28-ADBC-9179-1226-FD3950EA35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41301" y="4772327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3AF725F-D542-F3C0-BC2A-1D0903B577C8}"/>
                </a:ext>
              </a:extLst>
            </p:cNvPr>
            <p:cNvSpPr txBox="1"/>
            <p:nvPr/>
          </p:nvSpPr>
          <p:spPr>
            <a:xfrm>
              <a:off x="6607363" y="5108677"/>
              <a:ext cx="1027877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rgbClr val="002060"/>
                  </a:solidFill>
                  <a:cs typeface="Arial"/>
                </a:rPr>
                <a:t> Azure Pipelines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72754A5-DDCB-C164-13F1-6CF55C214C34}"/>
              </a:ext>
            </a:extLst>
          </p:cNvPr>
          <p:cNvGrpSpPr/>
          <p:nvPr/>
        </p:nvGrpSpPr>
        <p:grpSpPr>
          <a:xfrm>
            <a:off x="5474018" y="6149440"/>
            <a:ext cx="855274" cy="541798"/>
            <a:chOff x="4371781" y="4736164"/>
            <a:chExt cx="855274" cy="541798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95977F6-CA42-1C87-9FF7-8CED18043F22}"/>
                </a:ext>
              </a:extLst>
            </p:cNvPr>
            <p:cNvSpPr txBox="1"/>
            <p:nvPr/>
          </p:nvSpPr>
          <p:spPr>
            <a:xfrm>
              <a:off x="4371781" y="5062518"/>
              <a:ext cx="855274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rgbClr val="002060"/>
                  </a:solidFill>
                  <a:cs typeface="Arial"/>
                </a:rPr>
                <a:t>Azure Repos </a:t>
              </a:r>
            </a:p>
          </p:txBody>
        </p:sp>
        <p:pic>
          <p:nvPicPr>
            <p:cNvPr id="54" name="Picture 53" descr="A orange folder with a white line&#10;&#10;Description automatically generated">
              <a:extLst>
                <a:ext uri="{FF2B5EF4-FFF2-40B4-BE49-F238E27FC236}">
                  <a16:creationId xmlns:a16="http://schemas.microsoft.com/office/drawing/2014/main" id="{47740D35-766C-6039-AA96-C04484B5367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47982" y="4736164"/>
              <a:ext cx="302872" cy="360000"/>
            </a:xfrm>
            <a:prstGeom prst="rect">
              <a:avLst/>
            </a:prstGeom>
          </p:spPr>
        </p:pic>
      </p:grp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AC9DD06-65FD-AB67-EAD6-C019597E9398}"/>
              </a:ext>
            </a:extLst>
          </p:cNvPr>
          <p:cNvCxnSpPr>
            <a:cxnSpLocks/>
          </p:cNvCxnSpPr>
          <p:nvPr/>
        </p:nvCxnSpPr>
        <p:spPr>
          <a:xfrm flipV="1">
            <a:off x="6105964" y="6344477"/>
            <a:ext cx="450000" cy="0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DF1C3EC-B611-D879-4181-FD23C8188812}"/>
              </a:ext>
            </a:extLst>
          </p:cNvPr>
          <p:cNvCxnSpPr>
            <a:cxnSpLocks/>
          </p:cNvCxnSpPr>
          <p:nvPr/>
        </p:nvCxnSpPr>
        <p:spPr>
          <a:xfrm flipV="1">
            <a:off x="7124786" y="6344477"/>
            <a:ext cx="450000" cy="0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18D69962-0450-29DF-C188-0F3E07915BD9}"/>
              </a:ext>
            </a:extLst>
          </p:cNvPr>
          <p:cNvSpPr txBox="1"/>
          <p:nvPr/>
        </p:nvSpPr>
        <p:spPr>
          <a:xfrm>
            <a:off x="2080688" y="599470"/>
            <a:ext cx="8307538" cy="3231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500" b="1" dirty="0">
                <a:solidFill>
                  <a:srgbClr val="191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Azure Databricks - Data Platform</a:t>
            </a:r>
            <a:endParaRPr lang="en-IN" sz="1500" b="1" dirty="0">
              <a:solidFill>
                <a:srgbClr val="19105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B3D855-05DE-9BFD-3C70-D428CB530CB7}"/>
              </a:ext>
            </a:extLst>
          </p:cNvPr>
          <p:cNvSpPr/>
          <p:nvPr/>
        </p:nvSpPr>
        <p:spPr>
          <a:xfrm>
            <a:off x="3480682" y="3937824"/>
            <a:ext cx="4489283" cy="648507"/>
          </a:xfrm>
          <a:prstGeom prst="rect">
            <a:avLst/>
          </a:prstGeom>
          <a:noFill/>
          <a:ln w="9525">
            <a:solidFill>
              <a:schemeClr val="accent5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/>
          <a:p>
            <a:pPr>
              <a:buClr>
                <a:schemeClr val="accent1"/>
              </a:buClr>
              <a:buSzPct val="120000"/>
            </a:pPr>
            <a:r>
              <a:rPr lang="en-GB" sz="1000" b="1" dirty="0">
                <a:solidFill>
                  <a:srgbClr val="191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Metadata &amp; Governance</a:t>
            </a:r>
          </a:p>
          <a:p>
            <a:pPr>
              <a:buClr>
                <a:schemeClr val="accent1"/>
              </a:buClr>
              <a:buSzPct val="120000"/>
            </a:pPr>
            <a:r>
              <a:rPr lang="en-GB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cataloging, Role-Based </a:t>
            </a:r>
          </a:p>
          <a:p>
            <a:pPr>
              <a:buClr>
                <a:schemeClr val="accent1"/>
              </a:buClr>
              <a:buSzPct val="120000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Access Control, </a:t>
            </a:r>
          </a:p>
          <a:p>
            <a:pPr>
              <a:buClr>
                <a:schemeClr val="accent1"/>
              </a:buClr>
              <a:buSzPct val="120000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Quality Monitoring &amp; Data Lineage</a:t>
            </a:r>
            <a:r>
              <a:rPr lang="en-GB" sz="9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)</a:t>
            </a:r>
            <a:endParaRPr lang="en-IN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02C6244-93C1-B0AA-63A5-8731295C2837}"/>
              </a:ext>
            </a:extLst>
          </p:cNvPr>
          <p:cNvGrpSpPr/>
          <p:nvPr/>
        </p:nvGrpSpPr>
        <p:grpSpPr>
          <a:xfrm>
            <a:off x="5891436" y="4049816"/>
            <a:ext cx="1874340" cy="422341"/>
            <a:chOff x="4378000" y="4220065"/>
            <a:chExt cx="1874340" cy="422341"/>
          </a:xfrm>
        </p:grpSpPr>
        <p:pic>
          <p:nvPicPr>
            <p:cNvPr id="68" name="Picture 67" descr="A red line with black background&#10;&#10;Description automatically generated with medium confidence">
              <a:extLst>
                <a:ext uri="{FF2B5EF4-FFF2-40B4-BE49-F238E27FC236}">
                  <a16:creationId xmlns:a16="http://schemas.microsoft.com/office/drawing/2014/main" id="{66228D2D-249E-55E1-0624-61ADE98A453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378000" y="4220065"/>
              <a:ext cx="533777" cy="422341"/>
            </a:xfrm>
            <a:prstGeom prst="rect">
              <a:avLst/>
            </a:prstGeom>
          </p:spPr>
        </p:pic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DF1B69E-8FF6-D7AC-7D55-6C91109D61BF}"/>
                </a:ext>
              </a:extLst>
            </p:cNvPr>
            <p:cNvSpPr txBox="1"/>
            <p:nvPr/>
          </p:nvSpPr>
          <p:spPr>
            <a:xfrm>
              <a:off x="4863110" y="4285280"/>
              <a:ext cx="13892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GB" sz="1200" dirty="0">
                  <a:latin typeface="Arial" panose="020B0604020202020204" pitchFamily="34" charset="0"/>
                  <a:cs typeface="Arial" panose="020B0604020202020204" pitchFamily="34" charset="0"/>
                </a:rPr>
                <a:t>Unity </a:t>
              </a:r>
              <a:r>
                <a:rPr lang="en-GB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Catalog</a:t>
              </a:r>
              <a:endParaRPr lang="en-GB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DA5C908-897E-BBE3-AEB7-E4E788BC54A9}"/>
              </a:ext>
            </a:extLst>
          </p:cNvPr>
          <p:cNvGrpSpPr/>
          <p:nvPr/>
        </p:nvGrpSpPr>
        <p:grpSpPr>
          <a:xfrm>
            <a:off x="10676996" y="3663876"/>
            <a:ext cx="1299769" cy="1168425"/>
            <a:chOff x="8607744" y="1670810"/>
            <a:chExt cx="694711" cy="698559"/>
          </a:xfrm>
        </p:grpSpPr>
        <p:pic>
          <p:nvPicPr>
            <p:cNvPr id="90" name="Picture 18">
              <a:extLst>
                <a:ext uri="{FF2B5EF4-FFF2-40B4-BE49-F238E27FC236}">
                  <a16:creationId xmlns:a16="http://schemas.microsoft.com/office/drawing/2014/main" id="{A929FBD4-0578-8E0B-67F4-C65143175C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8607744" y="1670810"/>
              <a:ext cx="694711" cy="4351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FA9B7B69-7A2A-AE02-C8AA-A4FEA4397947}"/>
                </a:ext>
              </a:extLst>
            </p:cNvPr>
            <p:cNvSpPr/>
            <p:nvPr/>
          </p:nvSpPr>
          <p:spPr>
            <a:xfrm>
              <a:off x="8666476" y="2229620"/>
              <a:ext cx="577247" cy="139749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buClr>
                  <a:schemeClr val="accent1"/>
                </a:buClr>
                <a:buSzPct val="120000"/>
              </a:pPr>
              <a:endParaRPr lang="en-GB" sz="900" b="1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A15F366C-5C84-C8C4-4361-B84B9C72A29C}"/>
              </a:ext>
            </a:extLst>
          </p:cNvPr>
          <p:cNvSpPr/>
          <p:nvPr/>
        </p:nvSpPr>
        <p:spPr>
          <a:xfrm>
            <a:off x="3494432" y="4654340"/>
            <a:ext cx="6656855" cy="648507"/>
          </a:xfrm>
          <a:prstGeom prst="rect">
            <a:avLst/>
          </a:prstGeom>
          <a:noFill/>
          <a:ln w="9525">
            <a:solidFill>
              <a:schemeClr val="accent5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/>
          <a:p>
            <a:pPr>
              <a:buClr>
                <a:schemeClr val="accent1"/>
              </a:buClr>
              <a:buSzPct val="120000"/>
            </a:pPr>
            <a:r>
              <a:rPr lang="en-GB" sz="1000" b="1" dirty="0">
                <a:solidFill>
                  <a:srgbClr val="191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  <a:br>
              <a:rPr lang="en-GB" sz="1000" b="1" dirty="0">
                <a:solidFill>
                  <a:schemeClr val="bg2"/>
                </a:solidFill>
              </a:rPr>
            </a:br>
            <a:r>
              <a:rPr lang="en-GB" sz="9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en-US" sz="9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ACID Transactions,</a:t>
            </a:r>
          </a:p>
          <a:p>
            <a:pPr>
              <a:buClr>
                <a:schemeClr val="accent1"/>
              </a:buClr>
              <a:buSzPct val="120000"/>
            </a:pPr>
            <a:r>
              <a:rPr lang="en-US" sz="9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Time travel, Schema Evolution </a:t>
            </a:r>
          </a:p>
          <a:p>
            <a:pPr>
              <a:buClr>
                <a:schemeClr val="accent1"/>
              </a:buClr>
              <a:buSzPct val="120000"/>
            </a:pPr>
            <a:r>
              <a:rPr lang="en-US" sz="9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&amp; Audit Logging)</a:t>
            </a:r>
            <a:endParaRPr lang="en-IN" sz="9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buClr>
                <a:schemeClr val="accent1"/>
              </a:buClr>
              <a:buSzPct val="120000"/>
            </a:pPr>
            <a:endParaRPr lang="en-GB" sz="1000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71D2EAC-97AA-29F3-E449-6FF03FA9D8A8}"/>
              </a:ext>
            </a:extLst>
          </p:cNvPr>
          <p:cNvGrpSpPr/>
          <p:nvPr/>
        </p:nvGrpSpPr>
        <p:grpSpPr>
          <a:xfrm>
            <a:off x="5403997" y="4689016"/>
            <a:ext cx="1650281" cy="646331"/>
            <a:chOff x="7138183" y="4993436"/>
            <a:chExt cx="1650281" cy="646331"/>
          </a:xfrm>
        </p:grpSpPr>
        <p:pic>
          <p:nvPicPr>
            <p:cNvPr id="112" name="Graphic 111">
              <a:extLst>
                <a:ext uri="{FF2B5EF4-FFF2-40B4-BE49-F238E27FC236}">
                  <a16:creationId xmlns:a16="http://schemas.microsoft.com/office/drawing/2014/main" id="{1DFF540B-42CE-7891-2F5F-CDB7F82C2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138183" y="5072627"/>
              <a:ext cx="456096" cy="450000"/>
            </a:xfrm>
            <a:prstGeom prst="rect">
              <a:avLst/>
            </a:prstGeom>
          </p:spPr>
        </p:pic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AD272EDC-B6BF-0F1F-974C-5729F0DAAA17}"/>
                </a:ext>
              </a:extLst>
            </p:cNvPr>
            <p:cNvSpPr txBox="1"/>
            <p:nvPr/>
          </p:nvSpPr>
          <p:spPr>
            <a:xfrm>
              <a:off x="7631907" y="4993436"/>
              <a:ext cx="11565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Azure Data Lake Storage Gen 2</a:t>
              </a:r>
              <a:endParaRPr lang="en-IN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9793468F-807D-C5A9-9940-BBB14A0549E0}"/>
              </a:ext>
            </a:extLst>
          </p:cNvPr>
          <p:cNvGrpSpPr/>
          <p:nvPr/>
        </p:nvGrpSpPr>
        <p:grpSpPr>
          <a:xfrm>
            <a:off x="7293173" y="4786495"/>
            <a:ext cx="1391420" cy="396000"/>
            <a:chOff x="6083759" y="3617560"/>
            <a:chExt cx="1391420" cy="396000"/>
          </a:xfrm>
        </p:grpSpPr>
        <p:pic>
          <p:nvPicPr>
            <p:cNvPr id="117" name="Graphic 116">
              <a:extLst>
                <a:ext uri="{FF2B5EF4-FFF2-40B4-BE49-F238E27FC236}">
                  <a16:creationId xmlns:a16="http://schemas.microsoft.com/office/drawing/2014/main" id="{6A6B62CC-CDD5-DDC4-0128-60D6A66114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083759" y="3617560"/>
              <a:ext cx="404250" cy="396000"/>
            </a:xfrm>
            <a:prstGeom prst="rect">
              <a:avLst/>
            </a:prstGeom>
          </p:spPr>
        </p:pic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540ABEA6-A430-C72D-D951-85F26836B6FB}"/>
                </a:ext>
              </a:extLst>
            </p:cNvPr>
            <p:cNvSpPr txBox="1"/>
            <p:nvPr/>
          </p:nvSpPr>
          <p:spPr>
            <a:xfrm>
              <a:off x="6442948" y="3707838"/>
              <a:ext cx="10322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Delta lake</a:t>
              </a:r>
              <a:endParaRPr lang="en-IN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19" name="Picture 4">
            <a:extLst>
              <a:ext uri="{FF2B5EF4-FFF2-40B4-BE49-F238E27FC236}">
                <a16:creationId xmlns:a16="http://schemas.microsoft.com/office/drawing/2014/main" id="{ECADA481-AFF5-3D83-0241-D8EE76251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6202" y="3773736"/>
            <a:ext cx="1028571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1" name="Rectangle 120">
            <a:extLst>
              <a:ext uri="{FF2B5EF4-FFF2-40B4-BE49-F238E27FC236}">
                <a16:creationId xmlns:a16="http://schemas.microsoft.com/office/drawing/2014/main" id="{28ECA794-8D9E-3BB8-5822-8F4B9D2A8E47}"/>
              </a:ext>
            </a:extLst>
          </p:cNvPr>
          <p:cNvSpPr/>
          <p:nvPr/>
        </p:nvSpPr>
        <p:spPr>
          <a:xfrm>
            <a:off x="2251640" y="1688145"/>
            <a:ext cx="1010772" cy="5058098"/>
          </a:xfrm>
          <a:prstGeom prst="rect">
            <a:avLst/>
          </a:prstGeom>
          <a:noFill/>
          <a:ln w="9525">
            <a:solidFill>
              <a:schemeClr val="accent5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/>
          <a:p>
            <a:pPr algn="ctr">
              <a:buClr>
                <a:schemeClr val="accent1"/>
              </a:buClr>
              <a:buSzPct val="120000"/>
            </a:pPr>
            <a:r>
              <a:rPr lang="en-GB" sz="1500" b="1" dirty="0">
                <a:solidFill>
                  <a:srgbClr val="191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Ingestion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0193AFBA-829D-EA72-9632-33CDFA65D4AA}"/>
              </a:ext>
            </a:extLst>
          </p:cNvPr>
          <p:cNvSpPr/>
          <p:nvPr/>
        </p:nvSpPr>
        <p:spPr>
          <a:xfrm>
            <a:off x="3431590" y="1730123"/>
            <a:ext cx="6719698" cy="2133451"/>
          </a:xfrm>
          <a:prstGeom prst="rect">
            <a:avLst/>
          </a:prstGeom>
          <a:noFill/>
          <a:ln w="9525">
            <a:solidFill>
              <a:schemeClr val="accent5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/>
          <a:p>
            <a:pPr algn="ctr">
              <a:buClr>
                <a:schemeClr val="accent1"/>
              </a:buClr>
              <a:buSzPct val="120000"/>
            </a:pPr>
            <a:endParaRPr lang="en-GB" sz="1000" b="1" dirty="0">
              <a:solidFill>
                <a:srgbClr val="002060"/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58857CFC-E46A-3F1F-EB25-F214FF8B5AAA}"/>
              </a:ext>
            </a:extLst>
          </p:cNvPr>
          <p:cNvSpPr/>
          <p:nvPr/>
        </p:nvSpPr>
        <p:spPr>
          <a:xfrm>
            <a:off x="3494432" y="5369877"/>
            <a:ext cx="6656855" cy="648507"/>
          </a:xfrm>
          <a:prstGeom prst="rect">
            <a:avLst/>
          </a:prstGeom>
          <a:noFill/>
          <a:ln w="9525">
            <a:solidFill>
              <a:schemeClr val="accent5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/>
          <a:p>
            <a:pPr>
              <a:buClr>
                <a:schemeClr val="accent1"/>
              </a:buClr>
              <a:buSzPct val="120000"/>
            </a:pPr>
            <a:r>
              <a:rPr lang="en-GB" sz="1000" b="1" dirty="0">
                <a:solidFill>
                  <a:srgbClr val="191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and monitor</a:t>
            </a:r>
          </a:p>
          <a:p>
            <a:pPr>
              <a:buClr>
                <a:schemeClr val="accent1"/>
              </a:buClr>
              <a:buSzPct val="120000"/>
            </a:pPr>
            <a:r>
              <a:rPr lang="en-GB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Observability,</a:t>
            </a:r>
          </a:p>
          <a:p>
            <a:pPr>
              <a:buClr>
                <a:schemeClr val="accent1"/>
              </a:buClr>
              <a:buSzPct val="120000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Security and access control </a:t>
            </a:r>
          </a:p>
          <a:p>
            <a:pPr>
              <a:buClr>
                <a:schemeClr val="accent1"/>
              </a:buClr>
              <a:buSzPct val="120000"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of platform)</a:t>
            </a:r>
            <a:endParaRPr lang="en-IN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5BDDFC8F-70A6-7C78-5000-CE3B7BDE86AE}"/>
              </a:ext>
            </a:extLst>
          </p:cNvPr>
          <p:cNvGrpSpPr/>
          <p:nvPr/>
        </p:nvGrpSpPr>
        <p:grpSpPr>
          <a:xfrm>
            <a:off x="5521398" y="5495756"/>
            <a:ext cx="693534" cy="477167"/>
            <a:chOff x="2132566" y="3522873"/>
            <a:chExt cx="882493" cy="619052"/>
          </a:xfrm>
        </p:grpSpPr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D2E2DC60-FA77-8D51-7371-325E370766ED}"/>
                </a:ext>
              </a:extLst>
            </p:cNvPr>
            <p:cNvSpPr txBox="1"/>
            <p:nvPr/>
          </p:nvSpPr>
          <p:spPr>
            <a:xfrm>
              <a:off x="2132566" y="3862419"/>
              <a:ext cx="882493" cy="27950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800" dirty="0">
                  <a:solidFill>
                    <a:srgbClr val="002060"/>
                  </a:solidFill>
                  <a:cs typeface="Arial"/>
                </a:rPr>
                <a:t>Key Vault</a:t>
              </a:r>
            </a:p>
          </p:txBody>
        </p:sp>
        <p:pic>
          <p:nvPicPr>
            <p:cNvPr id="2048" name="Picture 2047" descr="A yellow key in a blue circle&#10;&#10;Description automatically generated">
              <a:extLst>
                <a:ext uri="{FF2B5EF4-FFF2-40B4-BE49-F238E27FC236}">
                  <a16:creationId xmlns:a16="http://schemas.microsoft.com/office/drawing/2014/main" id="{53506CF3-EBD5-0EDE-5911-F08B691F6A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396024" y="3522873"/>
              <a:ext cx="355577" cy="359999"/>
            </a:xfrm>
            <a:prstGeom prst="rect">
              <a:avLst/>
            </a:prstGeom>
          </p:spPr>
        </p:pic>
      </p:grpSp>
      <p:grpSp>
        <p:nvGrpSpPr>
          <p:cNvPr id="2050" name="Group 2049">
            <a:extLst>
              <a:ext uri="{FF2B5EF4-FFF2-40B4-BE49-F238E27FC236}">
                <a16:creationId xmlns:a16="http://schemas.microsoft.com/office/drawing/2014/main" id="{2DC2F823-66CA-56D9-0CA7-9734E0914C5D}"/>
              </a:ext>
            </a:extLst>
          </p:cNvPr>
          <p:cNvGrpSpPr/>
          <p:nvPr/>
        </p:nvGrpSpPr>
        <p:grpSpPr>
          <a:xfrm>
            <a:off x="6531260" y="5489193"/>
            <a:ext cx="573465" cy="492161"/>
            <a:chOff x="3543341" y="3522675"/>
            <a:chExt cx="741165" cy="604257"/>
          </a:xfrm>
        </p:grpSpPr>
        <p:sp>
          <p:nvSpPr>
            <p:cNvPr id="2051" name="TextBox 2050">
              <a:extLst>
                <a:ext uri="{FF2B5EF4-FFF2-40B4-BE49-F238E27FC236}">
                  <a16:creationId xmlns:a16="http://schemas.microsoft.com/office/drawing/2014/main" id="{FB755567-D2AD-2E02-1BC6-6D33FCC85BC7}"/>
                </a:ext>
              </a:extLst>
            </p:cNvPr>
            <p:cNvSpPr txBox="1"/>
            <p:nvPr/>
          </p:nvSpPr>
          <p:spPr>
            <a:xfrm>
              <a:off x="3543341" y="3862418"/>
              <a:ext cx="741165" cy="264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rgbClr val="002060"/>
                  </a:solidFill>
                  <a:cs typeface="Arial"/>
                </a:rPr>
                <a:t>Monitor</a:t>
              </a:r>
            </a:p>
          </p:txBody>
        </p:sp>
        <p:pic>
          <p:nvPicPr>
            <p:cNvPr id="2053" name="Picture 2052" descr="A blue and white gauge with a red needle&#10;&#10;Description automatically generated">
              <a:extLst>
                <a:ext uri="{FF2B5EF4-FFF2-40B4-BE49-F238E27FC236}">
                  <a16:creationId xmlns:a16="http://schemas.microsoft.com/office/drawing/2014/main" id="{F6B41F8F-A244-636C-475C-010A60D1E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700849" y="3522675"/>
              <a:ext cx="360000" cy="360000"/>
            </a:xfrm>
            <a:prstGeom prst="rect">
              <a:avLst/>
            </a:prstGeom>
          </p:spPr>
        </p:pic>
      </p:grpSp>
      <p:grpSp>
        <p:nvGrpSpPr>
          <p:cNvPr id="2054" name="Group 2053">
            <a:extLst>
              <a:ext uri="{FF2B5EF4-FFF2-40B4-BE49-F238E27FC236}">
                <a16:creationId xmlns:a16="http://schemas.microsoft.com/office/drawing/2014/main" id="{949B26AE-9AA4-C375-84A1-BED77F63E5E6}"/>
              </a:ext>
            </a:extLst>
          </p:cNvPr>
          <p:cNvGrpSpPr/>
          <p:nvPr/>
        </p:nvGrpSpPr>
        <p:grpSpPr>
          <a:xfrm>
            <a:off x="7521127" y="5472786"/>
            <a:ext cx="616389" cy="491282"/>
            <a:chOff x="4746640" y="3522675"/>
            <a:chExt cx="731039" cy="605102"/>
          </a:xfrm>
        </p:grpSpPr>
        <p:sp>
          <p:nvSpPr>
            <p:cNvPr id="2056" name="TextBox 2055">
              <a:extLst>
                <a:ext uri="{FF2B5EF4-FFF2-40B4-BE49-F238E27FC236}">
                  <a16:creationId xmlns:a16="http://schemas.microsoft.com/office/drawing/2014/main" id="{4F776323-C3BD-852E-0C8A-53FBF5679D8C}"/>
                </a:ext>
              </a:extLst>
            </p:cNvPr>
            <p:cNvSpPr txBox="1"/>
            <p:nvPr/>
          </p:nvSpPr>
          <p:spPr>
            <a:xfrm>
              <a:off x="4746640" y="3862419"/>
              <a:ext cx="731039" cy="26535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800" dirty="0">
                  <a:solidFill>
                    <a:srgbClr val="002060"/>
                  </a:solidFill>
                  <a:cs typeface="Arial"/>
                </a:rPr>
                <a:t>Defender</a:t>
              </a:r>
            </a:p>
          </p:txBody>
        </p:sp>
        <p:pic>
          <p:nvPicPr>
            <p:cNvPr id="2057" name="Picture 2056" descr="A green shield with a light bulb&#10;&#10;Description automatically generated">
              <a:extLst>
                <a:ext uri="{FF2B5EF4-FFF2-40B4-BE49-F238E27FC236}">
                  <a16:creationId xmlns:a16="http://schemas.microsoft.com/office/drawing/2014/main" id="{5CC3977C-AEB6-5F9F-2513-D79B4950F3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969792" y="3522675"/>
              <a:ext cx="284735" cy="360000"/>
            </a:xfrm>
            <a:prstGeom prst="rect">
              <a:avLst/>
            </a:prstGeom>
          </p:spPr>
        </p:pic>
      </p:grpSp>
      <p:cxnSp>
        <p:nvCxnSpPr>
          <p:cNvPr id="2058" name="Straight Arrow Connector 2057">
            <a:extLst>
              <a:ext uri="{FF2B5EF4-FFF2-40B4-BE49-F238E27FC236}">
                <a16:creationId xmlns:a16="http://schemas.microsoft.com/office/drawing/2014/main" id="{40E55FB9-7555-9D14-A6DE-0916DE544E31}"/>
              </a:ext>
            </a:extLst>
          </p:cNvPr>
          <p:cNvCxnSpPr>
            <a:cxnSpLocks/>
          </p:cNvCxnSpPr>
          <p:nvPr/>
        </p:nvCxnSpPr>
        <p:spPr>
          <a:xfrm>
            <a:off x="3274773" y="4271442"/>
            <a:ext cx="232020" cy="0"/>
          </a:xfrm>
          <a:prstGeom prst="straightConnector1">
            <a:avLst/>
          </a:prstGeom>
          <a:ln w="12700">
            <a:solidFill>
              <a:srgbClr val="00206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60" name="Group 2059">
            <a:extLst>
              <a:ext uri="{FF2B5EF4-FFF2-40B4-BE49-F238E27FC236}">
                <a16:creationId xmlns:a16="http://schemas.microsoft.com/office/drawing/2014/main" id="{CD743840-6940-03FB-84BA-CEBD27208228}"/>
              </a:ext>
            </a:extLst>
          </p:cNvPr>
          <p:cNvGrpSpPr/>
          <p:nvPr/>
        </p:nvGrpSpPr>
        <p:grpSpPr>
          <a:xfrm>
            <a:off x="2118441" y="1105750"/>
            <a:ext cx="1416763" cy="289994"/>
            <a:chOff x="275908" y="180434"/>
            <a:chExt cx="1823655" cy="376889"/>
          </a:xfrm>
        </p:grpSpPr>
        <p:sp>
          <p:nvSpPr>
            <p:cNvPr id="2061" name="TextBox 2060">
              <a:extLst>
                <a:ext uri="{FF2B5EF4-FFF2-40B4-BE49-F238E27FC236}">
                  <a16:creationId xmlns:a16="http://schemas.microsoft.com/office/drawing/2014/main" id="{C5D84FD3-C2B4-456D-06BF-622F73D7896E}"/>
                </a:ext>
              </a:extLst>
            </p:cNvPr>
            <p:cNvSpPr txBox="1"/>
            <p:nvPr/>
          </p:nvSpPr>
          <p:spPr>
            <a:xfrm>
              <a:off x="615577" y="237323"/>
              <a:ext cx="1483986" cy="32000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000" b="1" dirty="0">
                  <a:solidFill>
                    <a:srgbClr val="19105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Microsoft Azure</a:t>
              </a:r>
            </a:p>
          </p:txBody>
        </p:sp>
        <p:pic>
          <p:nvPicPr>
            <p:cNvPr id="2062" name="Picture 2061" descr="A blue logo with a black background&#10;&#10;Description automatically generated">
              <a:extLst>
                <a:ext uri="{FF2B5EF4-FFF2-40B4-BE49-F238E27FC236}">
                  <a16:creationId xmlns:a16="http://schemas.microsoft.com/office/drawing/2014/main" id="{1477E714-89DF-F762-4586-74B01EB888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275908" y="180434"/>
              <a:ext cx="374555" cy="360000"/>
            </a:xfrm>
            <a:prstGeom prst="rect">
              <a:avLst/>
            </a:prstGeom>
          </p:spPr>
        </p:pic>
      </p:grpSp>
      <p:cxnSp>
        <p:nvCxnSpPr>
          <p:cNvPr id="2065" name="Straight Arrow Connector 2064">
            <a:extLst>
              <a:ext uri="{FF2B5EF4-FFF2-40B4-BE49-F238E27FC236}">
                <a16:creationId xmlns:a16="http://schemas.microsoft.com/office/drawing/2014/main" id="{BFA052C0-9043-C175-98AC-BA2A233B3AF8}"/>
              </a:ext>
            </a:extLst>
          </p:cNvPr>
          <p:cNvCxnSpPr>
            <a:cxnSpLocks/>
          </p:cNvCxnSpPr>
          <p:nvPr/>
        </p:nvCxnSpPr>
        <p:spPr>
          <a:xfrm>
            <a:off x="6790310" y="3743028"/>
            <a:ext cx="11925" cy="325421"/>
          </a:xfrm>
          <a:prstGeom prst="straightConnector1">
            <a:avLst/>
          </a:prstGeom>
          <a:ln w="12700">
            <a:solidFill>
              <a:srgbClr val="00206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Connector: Elbow 2074">
            <a:extLst>
              <a:ext uri="{FF2B5EF4-FFF2-40B4-BE49-F238E27FC236}">
                <a16:creationId xmlns:a16="http://schemas.microsoft.com/office/drawing/2014/main" id="{B7913ED3-6D0A-B86D-FB9D-7BEB5A55965D}"/>
              </a:ext>
            </a:extLst>
          </p:cNvPr>
          <p:cNvCxnSpPr>
            <a:cxnSpLocks/>
          </p:cNvCxnSpPr>
          <p:nvPr/>
        </p:nvCxnSpPr>
        <p:spPr>
          <a:xfrm rot="16200000" flipV="1">
            <a:off x="6692917" y="2999874"/>
            <a:ext cx="204273" cy="0"/>
          </a:xfrm>
          <a:prstGeom prst="bentConnector3">
            <a:avLst/>
          </a:prstGeom>
          <a:ln w="6350">
            <a:solidFill>
              <a:srgbClr val="002060"/>
            </a:solidFill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076" name="Group 2075">
            <a:extLst>
              <a:ext uri="{FF2B5EF4-FFF2-40B4-BE49-F238E27FC236}">
                <a16:creationId xmlns:a16="http://schemas.microsoft.com/office/drawing/2014/main" id="{95913EB0-9C91-76B7-C277-BFE4D2D93920}"/>
              </a:ext>
            </a:extLst>
          </p:cNvPr>
          <p:cNvGrpSpPr/>
          <p:nvPr/>
        </p:nvGrpSpPr>
        <p:grpSpPr>
          <a:xfrm>
            <a:off x="4193610" y="2486664"/>
            <a:ext cx="980505" cy="473676"/>
            <a:chOff x="4193610" y="1881661"/>
            <a:chExt cx="980505" cy="473676"/>
          </a:xfrm>
        </p:grpSpPr>
        <p:sp>
          <p:nvSpPr>
            <p:cNvPr id="2077" name="TextBox 2076">
              <a:extLst>
                <a:ext uri="{FF2B5EF4-FFF2-40B4-BE49-F238E27FC236}">
                  <a16:creationId xmlns:a16="http://schemas.microsoft.com/office/drawing/2014/main" id="{51DA80C0-7A08-FD93-F568-ABC5FCC232AF}"/>
                </a:ext>
              </a:extLst>
            </p:cNvPr>
            <p:cNvSpPr txBox="1"/>
            <p:nvPr/>
          </p:nvSpPr>
          <p:spPr>
            <a:xfrm>
              <a:off x="4193610" y="2105285"/>
              <a:ext cx="980505" cy="2500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D2BD9E"/>
                  </a:solidFill>
                </a:rPr>
                <a:t>Bronze</a:t>
              </a:r>
              <a:endParaRPr lang="en-IN" sz="1000" b="1" dirty="0">
                <a:solidFill>
                  <a:srgbClr val="D2BD9E"/>
                </a:solidFill>
              </a:endParaRPr>
            </a:p>
          </p:txBody>
        </p:sp>
        <p:sp>
          <p:nvSpPr>
            <p:cNvPr id="2078" name="Graphic 17">
              <a:extLst>
                <a:ext uri="{FF2B5EF4-FFF2-40B4-BE49-F238E27FC236}">
                  <a16:creationId xmlns:a16="http://schemas.microsoft.com/office/drawing/2014/main" id="{5F78D740-2B2D-39FB-7BFE-E987B6665F27}"/>
                </a:ext>
              </a:extLst>
            </p:cNvPr>
            <p:cNvSpPr/>
            <p:nvPr/>
          </p:nvSpPr>
          <p:spPr>
            <a:xfrm>
              <a:off x="4521862" y="1881661"/>
              <a:ext cx="324000" cy="270000"/>
            </a:xfrm>
            <a:custGeom>
              <a:avLst/>
              <a:gdLst>
                <a:gd name="connsiteX0" fmla="*/ 0 w 588303"/>
                <a:gd name="connsiteY0" fmla="*/ 589691 h 623327"/>
                <a:gd name="connsiteX1" fmla="*/ 229874 w 588303"/>
                <a:gd name="connsiteY1" fmla="*/ 460357 h 623327"/>
                <a:gd name="connsiteX2" fmla="*/ 313183 w 588303"/>
                <a:gd name="connsiteY2" fmla="*/ 494867 h 623327"/>
                <a:gd name="connsiteX3" fmla="*/ 396835 w 588303"/>
                <a:gd name="connsiteY3" fmla="*/ 528999 h 623327"/>
                <a:gd name="connsiteX4" fmla="*/ 461465 w 588303"/>
                <a:gd name="connsiteY4" fmla="*/ 527479 h 623327"/>
                <a:gd name="connsiteX5" fmla="*/ 473562 w 588303"/>
                <a:gd name="connsiteY5" fmla="*/ 497530 h 623327"/>
                <a:gd name="connsiteX6" fmla="*/ 409961 w 588303"/>
                <a:gd name="connsiteY6" fmla="*/ 378051 h 623327"/>
                <a:gd name="connsiteX7" fmla="*/ 312485 w 588303"/>
                <a:gd name="connsiteY7" fmla="*/ 194856 h 623327"/>
                <a:gd name="connsiteX8" fmla="*/ 287947 w 588303"/>
                <a:gd name="connsiteY8" fmla="*/ 195233 h 623327"/>
                <a:gd name="connsiteX9" fmla="*/ 210165 w 588303"/>
                <a:gd name="connsiteY9" fmla="*/ 340880 h 623327"/>
                <a:gd name="connsiteX10" fmla="*/ 204282 w 588303"/>
                <a:gd name="connsiteY10" fmla="*/ 354531 h 623327"/>
                <a:gd name="connsiteX11" fmla="*/ 281033 w 588303"/>
                <a:gd name="connsiteY11" fmla="*/ 391702 h 623327"/>
                <a:gd name="connsiteX12" fmla="*/ 320095 w 588303"/>
                <a:gd name="connsiteY12" fmla="*/ 422809 h 623327"/>
                <a:gd name="connsiteX13" fmla="*/ 332194 w 588303"/>
                <a:gd name="connsiteY13" fmla="*/ 443291 h 623327"/>
                <a:gd name="connsiteX14" fmla="*/ 310070 w 588303"/>
                <a:gd name="connsiteY14" fmla="*/ 441394 h 623327"/>
                <a:gd name="connsiteX15" fmla="*/ 225033 w 588303"/>
                <a:gd name="connsiteY15" fmla="*/ 419393 h 623327"/>
                <a:gd name="connsiteX16" fmla="*/ 76396 w 588303"/>
                <a:gd name="connsiteY16" fmla="*/ 446317 h 623327"/>
                <a:gd name="connsiteX17" fmla="*/ 59114 w 588303"/>
                <a:gd name="connsiteY17" fmla="*/ 446694 h 623327"/>
                <a:gd name="connsiteX18" fmla="*/ 62914 w 588303"/>
                <a:gd name="connsiteY18" fmla="*/ 429627 h 623327"/>
                <a:gd name="connsiteX19" fmla="*/ 282418 w 588303"/>
                <a:gd name="connsiteY19" fmla="*/ 15842 h 623327"/>
                <a:gd name="connsiteX20" fmla="*/ 317670 w 588303"/>
                <a:gd name="connsiteY20" fmla="*/ 16595 h 623327"/>
                <a:gd name="connsiteX21" fmla="*/ 576579 w 588303"/>
                <a:gd name="connsiteY21" fmla="*/ 502074 h 623327"/>
                <a:gd name="connsiteX22" fmla="*/ 559983 w 588303"/>
                <a:gd name="connsiteY22" fmla="*/ 581718 h 623327"/>
                <a:gd name="connsiteX23" fmla="*/ 331837 w 588303"/>
                <a:gd name="connsiteY23" fmla="*/ 594237 h 623327"/>
                <a:gd name="connsiteX24" fmla="*/ 274108 w 588303"/>
                <a:gd name="connsiteY24" fmla="*/ 563898 h 623327"/>
                <a:gd name="connsiteX25" fmla="*/ 86764 w 588303"/>
                <a:gd name="connsiteY25" fmla="*/ 552143 h 623327"/>
                <a:gd name="connsiteX26" fmla="*/ 17981 w 588303"/>
                <a:gd name="connsiteY26" fmla="*/ 582107 h 623327"/>
                <a:gd name="connsiteX27" fmla="*/ 0 w 588303"/>
                <a:gd name="connsiteY27" fmla="*/ 589691 h 623327"/>
                <a:gd name="connsiteX28" fmla="*/ 0 w 588303"/>
                <a:gd name="connsiteY28" fmla="*/ 589691 h 62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8303" h="623327">
                  <a:moveTo>
                    <a:pt x="0" y="589691"/>
                  </a:moveTo>
                  <a:cubicBezTo>
                    <a:pt x="50816" y="486905"/>
                    <a:pt x="143452" y="439499"/>
                    <a:pt x="229874" y="460357"/>
                  </a:cubicBezTo>
                  <a:cubicBezTo>
                    <a:pt x="258555" y="467175"/>
                    <a:pt x="285520" y="483111"/>
                    <a:pt x="313183" y="494867"/>
                  </a:cubicBezTo>
                  <a:cubicBezTo>
                    <a:pt x="340835" y="506620"/>
                    <a:pt x="368141" y="521790"/>
                    <a:pt x="396835" y="528999"/>
                  </a:cubicBezTo>
                  <a:cubicBezTo>
                    <a:pt x="417218" y="534312"/>
                    <a:pt x="440040" y="530518"/>
                    <a:pt x="461465" y="527479"/>
                  </a:cubicBezTo>
                  <a:cubicBezTo>
                    <a:pt x="481172" y="524830"/>
                    <a:pt x="483588" y="516492"/>
                    <a:pt x="473562" y="497530"/>
                  </a:cubicBezTo>
                  <a:cubicBezTo>
                    <a:pt x="452480" y="457694"/>
                    <a:pt x="431055" y="417873"/>
                    <a:pt x="409961" y="378051"/>
                  </a:cubicBezTo>
                  <a:cubicBezTo>
                    <a:pt x="409961" y="378051"/>
                    <a:pt x="312485" y="194856"/>
                    <a:pt x="312485" y="194856"/>
                  </a:cubicBezTo>
                  <a:cubicBezTo>
                    <a:pt x="301771" y="174750"/>
                    <a:pt x="298659" y="175141"/>
                    <a:pt x="287947" y="195233"/>
                  </a:cubicBezTo>
                  <a:cubicBezTo>
                    <a:pt x="287947" y="195233"/>
                    <a:pt x="210165" y="340880"/>
                    <a:pt x="210165" y="340880"/>
                  </a:cubicBezTo>
                  <a:cubicBezTo>
                    <a:pt x="207751" y="345427"/>
                    <a:pt x="206022" y="350739"/>
                    <a:pt x="204282" y="354531"/>
                  </a:cubicBezTo>
                  <a:cubicBezTo>
                    <a:pt x="230903" y="367441"/>
                    <a:pt x="256495" y="378051"/>
                    <a:pt x="281033" y="391702"/>
                  </a:cubicBezTo>
                  <a:cubicBezTo>
                    <a:pt x="295203" y="399663"/>
                    <a:pt x="307643" y="411432"/>
                    <a:pt x="320095" y="422809"/>
                  </a:cubicBezTo>
                  <a:cubicBezTo>
                    <a:pt x="325611" y="427732"/>
                    <a:pt x="328038" y="436459"/>
                    <a:pt x="332194" y="443291"/>
                  </a:cubicBezTo>
                  <a:cubicBezTo>
                    <a:pt x="324925" y="442525"/>
                    <a:pt x="317326" y="443291"/>
                    <a:pt x="310070" y="441394"/>
                  </a:cubicBezTo>
                  <a:cubicBezTo>
                    <a:pt x="281720" y="434187"/>
                    <a:pt x="253726" y="422809"/>
                    <a:pt x="225033" y="419393"/>
                  </a:cubicBezTo>
                  <a:cubicBezTo>
                    <a:pt x="173873" y="413327"/>
                    <a:pt x="124443" y="428498"/>
                    <a:pt x="76396" y="446317"/>
                  </a:cubicBezTo>
                  <a:cubicBezTo>
                    <a:pt x="71211" y="448212"/>
                    <a:pt x="64997" y="446694"/>
                    <a:pt x="59114" y="446694"/>
                  </a:cubicBezTo>
                  <a:cubicBezTo>
                    <a:pt x="60500" y="441005"/>
                    <a:pt x="60500" y="434562"/>
                    <a:pt x="62914" y="429627"/>
                  </a:cubicBezTo>
                  <a:cubicBezTo>
                    <a:pt x="135154" y="291577"/>
                    <a:pt x="208793" y="153529"/>
                    <a:pt x="282418" y="15842"/>
                  </a:cubicBezTo>
                  <a:cubicBezTo>
                    <a:pt x="293817" y="-5783"/>
                    <a:pt x="306271" y="-5016"/>
                    <a:pt x="317670" y="16595"/>
                  </a:cubicBezTo>
                  <a:cubicBezTo>
                    <a:pt x="404078" y="178556"/>
                    <a:pt x="490157" y="340126"/>
                    <a:pt x="576579" y="502074"/>
                  </a:cubicBezTo>
                  <a:cubicBezTo>
                    <a:pt x="595578" y="538117"/>
                    <a:pt x="592476" y="560104"/>
                    <a:pt x="559983" y="581718"/>
                  </a:cubicBezTo>
                  <a:cubicBezTo>
                    <a:pt x="486357" y="631408"/>
                    <a:pt x="409961" y="637851"/>
                    <a:pt x="331837" y="594237"/>
                  </a:cubicBezTo>
                  <a:cubicBezTo>
                    <a:pt x="312839" y="583613"/>
                    <a:pt x="293130" y="574898"/>
                    <a:pt x="274108" y="563898"/>
                  </a:cubicBezTo>
                  <a:cubicBezTo>
                    <a:pt x="213278" y="528622"/>
                    <a:pt x="150366" y="528622"/>
                    <a:pt x="86764" y="552143"/>
                  </a:cubicBezTo>
                  <a:cubicBezTo>
                    <a:pt x="63257" y="560481"/>
                    <a:pt x="40802" y="572235"/>
                    <a:pt x="17981" y="582107"/>
                  </a:cubicBezTo>
                  <a:cubicBezTo>
                    <a:pt x="13482" y="583990"/>
                    <a:pt x="8996" y="585899"/>
                    <a:pt x="0" y="589691"/>
                  </a:cubicBezTo>
                  <a:cubicBezTo>
                    <a:pt x="0" y="589691"/>
                    <a:pt x="0" y="589691"/>
                    <a:pt x="0" y="589691"/>
                  </a:cubicBezTo>
                </a:path>
              </a:pathLst>
            </a:custGeom>
            <a:solidFill>
              <a:srgbClr val="D2BD9E"/>
            </a:solidFill>
            <a:ln w="15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2079" name="Group 2078">
            <a:extLst>
              <a:ext uri="{FF2B5EF4-FFF2-40B4-BE49-F238E27FC236}">
                <a16:creationId xmlns:a16="http://schemas.microsoft.com/office/drawing/2014/main" id="{02536795-A83F-F3CF-AF3A-3AF42C445F85}"/>
              </a:ext>
            </a:extLst>
          </p:cNvPr>
          <p:cNvGrpSpPr/>
          <p:nvPr/>
        </p:nvGrpSpPr>
        <p:grpSpPr>
          <a:xfrm>
            <a:off x="6294451" y="2486664"/>
            <a:ext cx="980505" cy="473676"/>
            <a:chOff x="6294451" y="1881661"/>
            <a:chExt cx="980505" cy="473676"/>
          </a:xfrm>
        </p:grpSpPr>
        <p:sp>
          <p:nvSpPr>
            <p:cNvPr id="2080" name="TextBox 2079">
              <a:extLst>
                <a:ext uri="{FF2B5EF4-FFF2-40B4-BE49-F238E27FC236}">
                  <a16:creationId xmlns:a16="http://schemas.microsoft.com/office/drawing/2014/main" id="{DCDB27EF-1A4D-C313-06BD-3C8FF7DE19F4}"/>
                </a:ext>
              </a:extLst>
            </p:cNvPr>
            <p:cNvSpPr txBox="1"/>
            <p:nvPr/>
          </p:nvSpPr>
          <p:spPr>
            <a:xfrm>
              <a:off x="6294451" y="2105285"/>
              <a:ext cx="980505" cy="2500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>
                      <a:lumMod val="65000"/>
                    </a:schemeClr>
                  </a:solidFill>
                </a:rPr>
                <a:t>Silver</a:t>
              </a:r>
              <a:endParaRPr lang="en-IN" sz="100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81" name="Graphic 22">
              <a:extLst>
                <a:ext uri="{FF2B5EF4-FFF2-40B4-BE49-F238E27FC236}">
                  <a16:creationId xmlns:a16="http://schemas.microsoft.com/office/drawing/2014/main" id="{56195DB4-BBF1-325F-74A6-52D08328C94D}"/>
                </a:ext>
              </a:extLst>
            </p:cNvPr>
            <p:cNvSpPr/>
            <p:nvPr/>
          </p:nvSpPr>
          <p:spPr>
            <a:xfrm>
              <a:off x="6622703" y="1881661"/>
              <a:ext cx="324000" cy="270000"/>
            </a:xfrm>
            <a:custGeom>
              <a:avLst/>
              <a:gdLst>
                <a:gd name="connsiteX0" fmla="*/ 0 w 588303"/>
                <a:gd name="connsiteY0" fmla="*/ 589691 h 623327"/>
                <a:gd name="connsiteX1" fmla="*/ 229874 w 588303"/>
                <a:gd name="connsiteY1" fmla="*/ 460357 h 623327"/>
                <a:gd name="connsiteX2" fmla="*/ 313183 w 588303"/>
                <a:gd name="connsiteY2" fmla="*/ 494867 h 623327"/>
                <a:gd name="connsiteX3" fmla="*/ 396835 w 588303"/>
                <a:gd name="connsiteY3" fmla="*/ 528999 h 623327"/>
                <a:gd name="connsiteX4" fmla="*/ 461465 w 588303"/>
                <a:gd name="connsiteY4" fmla="*/ 527479 h 623327"/>
                <a:gd name="connsiteX5" fmla="*/ 473562 w 588303"/>
                <a:gd name="connsiteY5" fmla="*/ 497530 h 623327"/>
                <a:gd name="connsiteX6" fmla="*/ 409961 w 588303"/>
                <a:gd name="connsiteY6" fmla="*/ 378051 h 623327"/>
                <a:gd name="connsiteX7" fmla="*/ 312485 w 588303"/>
                <a:gd name="connsiteY7" fmla="*/ 194856 h 623327"/>
                <a:gd name="connsiteX8" fmla="*/ 287947 w 588303"/>
                <a:gd name="connsiteY8" fmla="*/ 195233 h 623327"/>
                <a:gd name="connsiteX9" fmla="*/ 210165 w 588303"/>
                <a:gd name="connsiteY9" fmla="*/ 340880 h 623327"/>
                <a:gd name="connsiteX10" fmla="*/ 204282 w 588303"/>
                <a:gd name="connsiteY10" fmla="*/ 354531 h 623327"/>
                <a:gd name="connsiteX11" fmla="*/ 281033 w 588303"/>
                <a:gd name="connsiteY11" fmla="*/ 391702 h 623327"/>
                <a:gd name="connsiteX12" fmla="*/ 320095 w 588303"/>
                <a:gd name="connsiteY12" fmla="*/ 422809 h 623327"/>
                <a:gd name="connsiteX13" fmla="*/ 332194 w 588303"/>
                <a:gd name="connsiteY13" fmla="*/ 443291 h 623327"/>
                <a:gd name="connsiteX14" fmla="*/ 310070 w 588303"/>
                <a:gd name="connsiteY14" fmla="*/ 441394 h 623327"/>
                <a:gd name="connsiteX15" fmla="*/ 225033 w 588303"/>
                <a:gd name="connsiteY15" fmla="*/ 419393 h 623327"/>
                <a:gd name="connsiteX16" fmla="*/ 76396 w 588303"/>
                <a:gd name="connsiteY16" fmla="*/ 446317 h 623327"/>
                <a:gd name="connsiteX17" fmla="*/ 59114 w 588303"/>
                <a:gd name="connsiteY17" fmla="*/ 446694 h 623327"/>
                <a:gd name="connsiteX18" fmla="*/ 62914 w 588303"/>
                <a:gd name="connsiteY18" fmla="*/ 429627 h 623327"/>
                <a:gd name="connsiteX19" fmla="*/ 282418 w 588303"/>
                <a:gd name="connsiteY19" fmla="*/ 15842 h 623327"/>
                <a:gd name="connsiteX20" fmla="*/ 317670 w 588303"/>
                <a:gd name="connsiteY20" fmla="*/ 16595 h 623327"/>
                <a:gd name="connsiteX21" fmla="*/ 576579 w 588303"/>
                <a:gd name="connsiteY21" fmla="*/ 502074 h 623327"/>
                <a:gd name="connsiteX22" fmla="*/ 559983 w 588303"/>
                <a:gd name="connsiteY22" fmla="*/ 581718 h 623327"/>
                <a:gd name="connsiteX23" fmla="*/ 331837 w 588303"/>
                <a:gd name="connsiteY23" fmla="*/ 594237 h 623327"/>
                <a:gd name="connsiteX24" fmla="*/ 274108 w 588303"/>
                <a:gd name="connsiteY24" fmla="*/ 563898 h 623327"/>
                <a:gd name="connsiteX25" fmla="*/ 86764 w 588303"/>
                <a:gd name="connsiteY25" fmla="*/ 552143 h 623327"/>
                <a:gd name="connsiteX26" fmla="*/ 17981 w 588303"/>
                <a:gd name="connsiteY26" fmla="*/ 582107 h 623327"/>
                <a:gd name="connsiteX27" fmla="*/ 0 w 588303"/>
                <a:gd name="connsiteY27" fmla="*/ 589691 h 623327"/>
                <a:gd name="connsiteX28" fmla="*/ 0 w 588303"/>
                <a:gd name="connsiteY28" fmla="*/ 589691 h 62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8303" h="623327">
                  <a:moveTo>
                    <a:pt x="0" y="589691"/>
                  </a:moveTo>
                  <a:cubicBezTo>
                    <a:pt x="50816" y="486905"/>
                    <a:pt x="143452" y="439499"/>
                    <a:pt x="229874" y="460357"/>
                  </a:cubicBezTo>
                  <a:cubicBezTo>
                    <a:pt x="258555" y="467175"/>
                    <a:pt x="285520" y="483111"/>
                    <a:pt x="313183" y="494867"/>
                  </a:cubicBezTo>
                  <a:cubicBezTo>
                    <a:pt x="340835" y="506620"/>
                    <a:pt x="368141" y="521790"/>
                    <a:pt x="396835" y="528999"/>
                  </a:cubicBezTo>
                  <a:cubicBezTo>
                    <a:pt x="417218" y="534312"/>
                    <a:pt x="440040" y="530518"/>
                    <a:pt x="461465" y="527479"/>
                  </a:cubicBezTo>
                  <a:cubicBezTo>
                    <a:pt x="481172" y="524830"/>
                    <a:pt x="483588" y="516492"/>
                    <a:pt x="473562" y="497530"/>
                  </a:cubicBezTo>
                  <a:cubicBezTo>
                    <a:pt x="452480" y="457694"/>
                    <a:pt x="431055" y="417873"/>
                    <a:pt x="409961" y="378051"/>
                  </a:cubicBezTo>
                  <a:cubicBezTo>
                    <a:pt x="409961" y="378051"/>
                    <a:pt x="312485" y="194856"/>
                    <a:pt x="312485" y="194856"/>
                  </a:cubicBezTo>
                  <a:cubicBezTo>
                    <a:pt x="301771" y="174750"/>
                    <a:pt x="298659" y="175141"/>
                    <a:pt x="287947" y="195233"/>
                  </a:cubicBezTo>
                  <a:cubicBezTo>
                    <a:pt x="287947" y="195233"/>
                    <a:pt x="210165" y="340880"/>
                    <a:pt x="210165" y="340880"/>
                  </a:cubicBezTo>
                  <a:cubicBezTo>
                    <a:pt x="207751" y="345427"/>
                    <a:pt x="206022" y="350739"/>
                    <a:pt x="204282" y="354531"/>
                  </a:cubicBezTo>
                  <a:cubicBezTo>
                    <a:pt x="230903" y="367441"/>
                    <a:pt x="256495" y="378051"/>
                    <a:pt x="281033" y="391702"/>
                  </a:cubicBezTo>
                  <a:cubicBezTo>
                    <a:pt x="295203" y="399663"/>
                    <a:pt x="307643" y="411432"/>
                    <a:pt x="320095" y="422809"/>
                  </a:cubicBezTo>
                  <a:cubicBezTo>
                    <a:pt x="325611" y="427732"/>
                    <a:pt x="328038" y="436459"/>
                    <a:pt x="332194" y="443291"/>
                  </a:cubicBezTo>
                  <a:cubicBezTo>
                    <a:pt x="324925" y="442525"/>
                    <a:pt x="317326" y="443291"/>
                    <a:pt x="310070" y="441394"/>
                  </a:cubicBezTo>
                  <a:cubicBezTo>
                    <a:pt x="281720" y="434187"/>
                    <a:pt x="253726" y="422809"/>
                    <a:pt x="225033" y="419393"/>
                  </a:cubicBezTo>
                  <a:cubicBezTo>
                    <a:pt x="173873" y="413327"/>
                    <a:pt x="124443" y="428498"/>
                    <a:pt x="76396" y="446317"/>
                  </a:cubicBezTo>
                  <a:cubicBezTo>
                    <a:pt x="71211" y="448212"/>
                    <a:pt x="64997" y="446694"/>
                    <a:pt x="59114" y="446694"/>
                  </a:cubicBezTo>
                  <a:cubicBezTo>
                    <a:pt x="60500" y="441005"/>
                    <a:pt x="60500" y="434562"/>
                    <a:pt x="62914" y="429627"/>
                  </a:cubicBezTo>
                  <a:cubicBezTo>
                    <a:pt x="135154" y="291577"/>
                    <a:pt x="208793" y="153529"/>
                    <a:pt x="282418" y="15842"/>
                  </a:cubicBezTo>
                  <a:cubicBezTo>
                    <a:pt x="293817" y="-5783"/>
                    <a:pt x="306271" y="-5016"/>
                    <a:pt x="317670" y="16595"/>
                  </a:cubicBezTo>
                  <a:cubicBezTo>
                    <a:pt x="404078" y="178556"/>
                    <a:pt x="490157" y="340126"/>
                    <a:pt x="576579" y="502074"/>
                  </a:cubicBezTo>
                  <a:cubicBezTo>
                    <a:pt x="595578" y="538117"/>
                    <a:pt x="592476" y="560104"/>
                    <a:pt x="559983" y="581718"/>
                  </a:cubicBezTo>
                  <a:cubicBezTo>
                    <a:pt x="486357" y="631408"/>
                    <a:pt x="409961" y="637851"/>
                    <a:pt x="331837" y="594237"/>
                  </a:cubicBezTo>
                  <a:cubicBezTo>
                    <a:pt x="312839" y="583613"/>
                    <a:pt x="293130" y="574898"/>
                    <a:pt x="274108" y="563898"/>
                  </a:cubicBezTo>
                  <a:cubicBezTo>
                    <a:pt x="213278" y="528622"/>
                    <a:pt x="150366" y="528622"/>
                    <a:pt x="86764" y="552143"/>
                  </a:cubicBezTo>
                  <a:cubicBezTo>
                    <a:pt x="63257" y="560481"/>
                    <a:pt x="40802" y="572235"/>
                    <a:pt x="17981" y="582107"/>
                  </a:cubicBezTo>
                  <a:cubicBezTo>
                    <a:pt x="13482" y="583990"/>
                    <a:pt x="8996" y="585899"/>
                    <a:pt x="0" y="589691"/>
                  </a:cubicBezTo>
                  <a:cubicBezTo>
                    <a:pt x="0" y="589691"/>
                    <a:pt x="0" y="589691"/>
                    <a:pt x="0" y="589691"/>
                  </a:cubicBezTo>
                </a:path>
              </a:pathLst>
            </a:custGeom>
            <a:solidFill>
              <a:srgbClr val="D5DDE0"/>
            </a:solidFill>
            <a:ln w="15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2082" name="Group 2081">
            <a:extLst>
              <a:ext uri="{FF2B5EF4-FFF2-40B4-BE49-F238E27FC236}">
                <a16:creationId xmlns:a16="http://schemas.microsoft.com/office/drawing/2014/main" id="{8EAD2DEE-95F7-732C-ADC8-DA01398CB8C7}"/>
              </a:ext>
            </a:extLst>
          </p:cNvPr>
          <p:cNvGrpSpPr/>
          <p:nvPr/>
        </p:nvGrpSpPr>
        <p:grpSpPr>
          <a:xfrm>
            <a:off x="8431746" y="2486664"/>
            <a:ext cx="980505" cy="473676"/>
            <a:chOff x="8431746" y="1881661"/>
            <a:chExt cx="980505" cy="473676"/>
          </a:xfrm>
        </p:grpSpPr>
        <p:sp>
          <p:nvSpPr>
            <p:cNvPr id="2083" name="TextBox 2082">
              <a:extLst>
                <a:ext uri="{FF2B5EF4-FFF2-40B4-BE49-F238E27FC236}">
                  <a16:creationId xmlns:a16="http://schemas.microsoft.com/office/drawing/2014/main" id="{4E717FFC-B47D-8839-0EEC-CE2569D59C70}"/>
                </a:ext>
              </a:extLst>
            </p:cNvPr>
            <p:cNvSpPr txBox="1"/>
            <p:nvPr/>
          </p:nvSpPr>
          <p:spPr>
            <a:xfrm>
              <a:off x="8431746" y="2105285"/>
              <a:ext cx="980505" cy="2500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>
                  <a:solidFill>
                    <a:srgbClr val="FFD700"/>
                  </a:solidFill>
                </a:rPr>
                <a:t>Gold</a:t>
              </a:r>
              <a:endParaRPr lang="en-IN" sz="1000" b="1">
                <a:solidFill>
                  <a:srgbClr val="FFD700"/>
                </a:solidFill>
              </a:endParaRPr>
            </a:p>
          </p:txBody>
        </p:sp>
        <p:sp>
          <p:nvSpPr>
            <p:cNvPr id="2084" name="Graphic 26">
              <a:extLst>
                <a:ext uri="{FF2B5EF4-FFF2-40B4-BE49-F238E27FC236}">
                  <a16:creationId xmlns:a16="http://schemas.microsoft.com/office/drawing/2014/main" id="{24CC15C7-0762-EDCC-D424-9BE4E4404880}"/>
                </a:ext>
              </a:extLst>
            </p:cNvPr>
            <p:cNvSpPr/>
            <p:nvPr/>
          </p:nvSpPr>
          <p:spPr>
            <a:xfrm>
              <a:off x="8759998" y="1881661"/>
              <a:ext cx="324000" cy="270000"/>
            </a:xfrm>
            <a:custGeom>
              <a:avLst/>
              <a:gdLst>
                <a:gd name="connsiteX0" fmla="*/ 0 w 588303"/>
                <a:gd name="connsiteY0" fmla="*/ 589691 h 623327"/>
                <a:gd name="connsiteX1" fmla="*/ 229874 w 588303"/>
                <a:gd name="connsiteY1" fmla="*/ 460357 h 623327"/>
                <a:gd name="connsiteX2" fmla="*/ 313183 w 588303"/>
                <a:gd name="connsiteY2" fmla="*/ 494867 h 623327"/>
                <a:gd name="connsiteX3" fmla="*/ 396835 w 588303"/>
                <a:gd name="connsiteY3" fmla="*/ 528999 h 623327"/>
                <a:gd name="connsiteX4" fmla="*/ 461465 w 588303"/>
                <a:gd name="connsiteY4" fmla="*/ 527479 h 623327"/>
                <a:gd name="connsiteX5" fmla="*/ 473562 w 588303"/>
                <a:gd name="connsiteY5" fmla="*/ 497530 h 623327"/>
                <a:gd name="connsiteX6" fmla="*/ 409961 w 588303"/>
                <a:gd name="connsiteY6" fmla="*/ 378051 h 623327"/>
                <a:gd name="connsiteX7" fmla="*/ 312485 w 588303"/>
                <a:gd name="connsiteY7" fmla="*/ 194856 h 623327"/>
                <a:gd name="connsiteX8" fmla="*/ 287947 w 588303"/>
                <a:gd name="connsiteY8" fmla="*/ 195233 h 623327"/>
                <a:gd name="connsiteX9" fmla="*/ 210165 w 588303"/>
                <a:gd name="connsiteY9" fmla="*/ 340880 h 623327"/>
                <a:gd name="connsiteX10" fmla="*/ 204282 w 588303"/>
                <a:gd name="connsiteY10" fmla="*/ 354531 h 623327"/>
                <a:gd name="connsiteX11" fmla="*/ 281033 w 588303"/>
                <a:gd name="connsiteY11" fmla="*/ 391702 h 623327"/>
                <a:gd name="connsiteX12" fmla="*/ 320095 w 588303"/>
                <a:gd name="connsiteY12" fmla="*/ 422809 h 623327"/>
                <a:gd name="connsiteX13" fmla="*/ 332194 w 588303"/>
                <a:gd name="connsiteY13" fmla="*/ 443291 h 623327"/>
                <a:gd name="connsiteX14" fmla="*/ 310070 w 588303"/>
                <a:gd name="connsiteY14" fmla="*/ 441394 h 623327"/>
                <a:gd name="connsiteX15" fmla="*/ 225033 w 588303"/>
                <a:gd name="connsiteY15" fmla="*/ 419393 h 623327"/>
                <a:gd name="connsiteX16" fmla="*/ 76396 w 588303"/>
                <a:gd name="connsiteY16" fmla="*/ 446317 h 623327"/>
                <a:gd name="connsiteX17" fmla="*/ 59114 w 588303"/>
                <a:gd name="connsiteY17" fmla="*/ 446694 h 623327"/>
                <a:gd name="connsiteX18" fmla="*/ 62914 w 588303"/>
                <a:gd name="connsiteY18" fmla="*/ 429627 h 623327"/>
                <a:gd name="connsiteX19" fmla="*/ 282418 w 588303"/>
                <a:gd name="connsiteY19" fmla="*/ 15842 h 623327"/>
                <a:gd name="connsiteX20" fmla="*/ 317670 w 588303"/>
                <a:gd name="connsiteY20" fmla="*/ 16595 h 623327"/>
                <a:gd name="connsiteX21" fmla="*/ 576579 w 588303"/>
                <a:gd name="connsiteY21" fmla="*/ 502074 h 623327"/>
                <a:gd name="connsiteX22" fmla="*/ 559983 w 588303"/>
                <a:gd name="connsiteY22" fmla="*/ 581718 h 623327"/>
                <a:gd name="connsiteX23" fmla="*/ 331837 w 588303"/>
                <a:gd name="connsiteY23" fmla="*/ 594237 h 623327"/>
                <a:gd name="connsiteX24" fmla="*/ 274108 w 588303"/>
                <a:gd name="connsiteY24" fmla="*/ 563898 h 623327"/>
                <a:gd name="connsiteX25" fmla="*/ 86764 w 588303"/>
                <a:gd name="connsiteY25" fmla="*/ 552143 h 623327"/>
                <a:gd name="connsiteX26" fmla="*/ 17981 w 588303"/>
                <a:gd name="connsiteY26" fmla="*/ 582107 h 623327"/>
                <a:gd name="connsiteX27" fmla="*/ 0 w 588303"/>
                <a:gd name="connsiteY27" fmla="*/ 589691 h 623327"/>
                <a:gd name="connsiteX28" fmla="*/ 0 w 588303"/>
                <a:gd name="connsiteY28" fmla="*/ 589691 h 62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8303" h="623327">
                  <a:moveTo>
                    <a:pt x="0" y="589691"/>
                  </a:moveTo>
                  <a:cubicBezTo>
                    <a:pt x="50816" y="486905"/>
                    <a:pt x="143452" y="439499"/>
                    <a:pt x="229874" y="460357"/>
                  </a:cubicBezTo>
                  <a:cubicBezTo>
                    <a:pt x="258555" y="467175"/>
                    <a:pt x="285520" y="483111"/>
                    <a:pt x="313183" y="494867"/>
                  </a:cubicBezTo>
                  <a:cubicBezTo>
                    <a:pt x="340835" y="506620"/>
                    <a:pt x="368141" y="521790"/>
                    <a:pt x="396835" y="528999"/>
                  </a:cubicBezTo>
                  <a:cubicBezTo>
                    <a:pt x="417218" y="534312"/>
                    <a:pt x="440040" y="530518"/>
                    <a:pt x="461465" y="527479"/>
                  </a:cubicBezTo>
                  <a:cubicBezTo>
                    <a:pt x="481172" y="524830"/>
                    <a:pt x="483588" y="516492"/>
                    <a:pt x="473562" y="497530"/>
                  </a:cubicBezTo>
                  <a:cubicBezTo>
                    <a:pt x="452480" y="457694"/>
                    <a:pt x="431055" y="417873"/>
                    <a:pt x="409961" y="378051"/>
                  </a:cubicBezTo>
                  <a:cubicBezTo>
                    <a:pt x="409961" y="378051"/>
                    <a:pt x="312485" y="194856"/>
                    <a:pt x="312485" y="194856"/>
                  </a:cubicBezTo>
                  <a:cubicBezTo>
                    <a:pt x="301771" y="174750"/>
                    <a:pt x="298659" y="175141"/>
                    <a:pt x="287947" y="195233"/>
                  </a:cubicBezTo>
                  <a:cubicBezTo>
                    <a:pt x="287947" y="195233"/>
                    <a:pt x="210165" y="340880"/>
                    <a:pt x="210165" y="340880"/>
                  </a:cubicBezTo>
                  <a:cubicBezTo>
                    <a:pt x="207751" y="345427"/>
                    <a:pt x="206022" y="350739"/>
                    <a:pt x="204282" y="354531"/>
                  </a:cubicBezTo>
                  <a:cubicBezTo>
                    <a:pt x="230903" y="367441"/>
                    <a:pt x="256495" y="378051"/>
                    <a:pt x="281033" y="391702"/>
                  </a:cubicBezTo>
                  <a:cubicBezTo>
                    <a:pt x="295203" y="399663"/>
                    <a:pt x="307643" y="411432"/>
                    <a:pt x="320095" y="422809"/>
                  </a:cubicBezTo>
                  <a:cubicBezTo>
                    <a:pt x="325611" y="427732"/>
                    <a:pt x="328038" y="436459"/>
                    <a:pt x="332194" y="443291"/>
                  </a:cubicBezTo>
                  <a:cubicBezTo>
                    <a:pt x="324925" y="442525"/>
                    <a:pt x="317326" y="443291"/>
                    <a:pt x="310070" y="441394"/>
                  </a:cubicBezTo>
                  <a:cubicBezTo>
                    <a:pt x="281720" y="434187"/>
                    <a:pt x="253726" y="422809"/>
                    <a:pt x="225033" y="419393"/>
                  </a:cubicBezTo>
                  <a:cubicBezTo>
                    <a:pt x="173873" y="413327"/>
                    <a:pt x="124443" y="428498"/>
                    <a:pt x="76396" y="446317"/>
                  </a:cubicBezTo>
                  <a:cubicBezTo>
                    <a:pt x="71211" y="448212"/>
                    <a:pt x="64997" y="446694"/>
                    <a:pt x="59114" y="446694"/>
                  </a:cubicBezTo>
                  <a:cubicBezTo>
                    <a:pt x="60500" y="441005"/>
                    <a:pt x="60500" y="434562"/>
                    <a:pt x="62914" y="429627"/>
                  </a:cubicBezTo>
                  <a:cubicBezTo>
                    <a:pt x="135154" y="291577"/>
                    <a:pt x="208793" y="153529"/>
                    <a:pt x="282418" y="15842"/>
                  </a:cubicBezTo>
                  <a:cubicBezTo>
                    <a:pt x="293817" y="-5783"/>
                    <a:pt x="306271" y="-5016"/>
                    <a:pt x="317670" y="16595"/>
                  </a:cubicBezTo>
                  <a:cubicBezTo>
                    <a:pt x="404078" y="178556"/>
                    <a:pt x="490157" y="340126"/>
                    <a:pt x="576579" y="502074"/>
                  </a:cubicBezTo>
                  <a:cubicBezTo>
                    <a:pt x="595578" y="538117"/>
                    <a:pt x="592476" y="560104"/>
                    <a:pt x="559983" y="581718"/>
                  </a:cubicBezTo>
                  <a:cubicBezTo>
                    <a:pt x="486357" y="631408"/>
                    <a:pt x="409961" y="637851"/>
                    <a:pt x="331837" y="594237"/>
                  </a:cubicBezTo>
                  <a:cubicBezTo>
                    <a:pt x="312839" y="583613"/>
                    <a:pt x="293130" y="574898"/>
                    <a:pt x="274108" y="563898"/>
                  </a:cubicBezTo>
                  <a:cubicBezTo>
                    <a:pt x="213278" y="528622"/>
                    <a:pt x="150366" y="528622"/>
                    <a:pt x="86764" y="552143"/>
                  </a:cubicBezTo>
                  <a:cubicBezTo>
                    <a:pt x="63257" y="560481"/>
                    <a:pt x="40802" y="572235"/>
                    <a:pt x="17981" y="582107"/>
                  </a:cubicBezTo>
                  <a:cubicBezTo>
                    <a:pt x="13482" y="583990"/>
                    <a:pt x="8996" y="585899"/>
                    <a:pt x="0" y="589691"/>
                  </a:cubicBezTo>
                  <a:cubicBezTo>
                    <a:pt x="0" y="589691"/>
                    <a:pt x="0" y="589691"/>
                    <a:pt x="0" y="589691"/>
                  </a:cubicBezTo>
                </a:path>
              </a:pathLst>
            </a:custGeom>
            <a:solidFill>
              <a:srgbClr val="FFD700"/>
            </a:solidFill>
            <a:ln w="15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085" name="Arrow: Pentagon 2084">
            <a:extLst>
              <a:ext uri="{FF2B5EF4-FFF2-40B4-BE49-F238E27FC236}">
                <a16:creationId xmlns:a16="http://schemas.microsoft.com/office/drawing/2014/main" id="{28B392AE-3A37-CA56-E3FB-54917D7B01C7}"/>
              </a:ext>
            </a:extLst>
          </p:cNvPr>
          <p:cNvSpPr/>
          <p:nvPr/>
        </p:nvSpPr>
        <p:spPr>
          <a:xfrm>
            <a:off x="7814926" y="1944912"/>
            <a:ext cx="2271296" cy="517654"/>
          </a:xfrm>
          <a:prstGeom prst="homePlate">
            <a:avLst/>
          </a:prstGeom>
          <a:solidFill>
            <a:srgbClr val="FFD7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Data Mart</a:t>
            </a:r>
          </a:p>
          <a:p>
            <a:pPr algn="ctr"/>
            <a:r>
              <a:rPr lang="en-US" sz="800" i="1" dirty="0">
                <a:solidFill>
                  <a:schemeClr val="tx1"/>
                </a:solidFill>
              </a:rPr>
              <a:t>(Business level data)</a:t>
            </a:r>
          </a:p>
          <a:p>
            <a:pPr algn="ctr"/>
            <a:r>
              <a:rPr lang="en-US" sz="800" i="1" dirty="0">
                <a:solidFill>
                  <a:schemeClr val="tx1"/>
                </a:solidFill>
              </a:rPr>
              <a:t>Ready for consumption &amp; distribution</a:t>
            </a:r>
          </a:p>
        </p:txBody>
      </p:sp>
      <p:sp>
        <p:nvSpPr>
          <p:cNvPr id="2086" name="Arrow: Pentagon 2085">
            <a:extLst>
              <a:ext uri="{FF2B5EF4-FFF2-40B4-BE49-F238E27FC236}">
                <a16:creationId xmlns:a16="http://schemas.microsoft.com/office/drawing/2014/main" id="{F469AD7A-691F-851B-5B34-811DAB8849C8}"/>
              </a:ext>
            </a:extLst>
          </p:cNvPr>
          <p:cNvSpPr/>
          <p:nvPr/>
        </p:nvSpPr>
        <p:spPr>
          <a:xfrm>
            <a:off x="5609818" y="1944913"/>
            <a:ext cx="2579463" cy="517654"/>
          </a:xfrm>
          <a:prstGeom prst="homePlate">
            <a:avLst/>
          </a:prstGeom>
          <a:solidFill>
            <a:srgbClr val="D5DDE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Single Source of Truth</a:t>
            </a:r>
          </a:p>
          <a:p>
            <a:pPr algn="ctr"/>
            <a:r>
              <a:rPr lang="en-US" sz="800" i="1" dirty="0">
                <a:solidFill>
                  <a:schemeClr val="tx1"/>
                </a:solidFill>
              </a:rPr>
              <a:t>(Cleaned)</a:t>
            </a:r>
          </a:p>
          <a:p>
            <a:pPr algn="ctr"/>
            <a:r>
              <a:rPr lang="en-US" sz="800" i="1" dirty="0">
                <a:solidFill>
                  <a:schemeClr val="tx1"/>
                </a:solidFill>
              </a:rPr>
              <a:t>Enterprise view of key business entities</a:t>
            </a:r>
          </a:p>
        </p:txBody>
      </p:sp>
      <p:sp>
        <p:nvSpPr>
          <p:cNvPr id="2087" name="Arrow: Pentagon 2086">
            <a:extLst>
              <a:ext uri="{FF2B5EF4-FFF2-40B4-BE49-F238E27FC236}">
                <a16:creationId xmlns:a16="http://schemas.microsoft.com/office/drawing/2014/main" id="{CBEB1FDD-9B96-38FB-F120-F66AD7DD2164}"/>
              </a:ext>
            </a:extLst>
          </p:cNvPr>
          <p:cNvSpPr/>
          <p:nvPr/>
        </p:nvSpPr>
        <p:spPr>
          <a:xfrm>
            <a:off x="3829134" y="1944913"/>
            <a:ext cx="2128419" cy="517654"/>
          </a:xfrm>
          <a:prstGeom prst="homePlate">
            <a:avLst/>
          </a:prstGeom>
          <a:solidFill>
            <a:srgbClr val="D2BD9E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Landing zone</a:t>
            </a:r>
          </a:p>
          <a:p>
            <a:pPr algn="ctr"/>
            <a:r>
              <a:rPr lang="en-US" sz="800" i="1" dirty="0">
                <a:solidFill>
                  <a:schemeClr val="tx1"/>
                </a:solidFill>
              </a:rPr>
              <a:t>(As-is)</a:t>
            </a:r>
          </a:p>
          <a:p>
            <a:pPr algn="ctr"/>
            <a:r>
              <a:rPr lang="en-US" sz="800" i="1" dirty="0">
                <a:solidFill>
                  <a:schemeClr val="tx1"/>
                </a:solidFill>
              </a:rPr>
              <a:t>Raw data from external source systems</a:t>
            </a:r>
          </a:p>
        </p:txBody>
      </p:sp>
      <p:sp>
        <p:nvSpPr>
          <p:cNvPr id="2088" name="Rectangle 2087">
            <a:extLst>
              <a:ext uri="{FF2B5EF4-FFF2-40B4-BE49-F238E27FC236}">
                <a16:creationId xmlns:a16="http://schemas.microsoft.com/office/drawing/2014/main" id="{5B09FED3-062C-C4BA-633F-18FCFCFD30C3}"/>
              </a:ext>
            </a:extLst>
          </p:cNvPr>
          <p:cNvSpPr/>
          <p:nvPr/>
        </p:nvSpPr>
        <p:spPr>
          <a:xfrm>
            <a:off x="8111793" y="3933748"/>
            <a:ext cx="2021075" cy="648507"/>
          </a:xfrm>
          <a:prstGeom prst="rect">
            <a:avLst/>
          </a:prstGeom>
          <a:noFill/>
          <a:ln w="9525">
            <a:solidFill>
              <a:schemeClr val="accent5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/>
          <a:p>
            <a:pPr>
              <a:buClr>
                <a:schemeClr val="accent1"/>
              </a:buClr>
              <a:buSzPct val="120000"/>
            </a:pPr>
            <a:r>
              <a:rPr lang="en-GB" sz="1000" b="1" dirty="0">
                <a:solidFill>
                  <a:srgbClr val="002060"/>
                </a:solidFill>
              </a:rPr>
              <a:t>Data Serving</a:t>
            </a:r>
            <a:endParaRPr lang="en-GB" sz="800" b="1" dirty="0">
              <a:solidFill>
                <a:srgbClr val="002060"/>
              </a:solidFill>
            </a:endParaRPr>
          </a:p>
          <a:p>
            <a:pPr>
              <a:buClr>
                <a:schemeClr val="accent1"/>
              </a:buClr>
              <a:buSzPct val="120000"/>
            </a:pPr>
            <a:endParaRPr lang="en-IN" sz="8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89" name="TextBox 2088">
            <a:extLst>
              <a:ext uri="{FF2B5EF4-FFF2-40B4-BE49-F238E27FC236}">
                <a16:creationId xmlns:a16="http://schemas.microsoft.com/office/drawing/2014/main" id="{1643A796-0413-25FB-226F-DED7B039F06E}"/>
              </a:ext>
            </a:extLst>
          </p:cNvPr>
          <p:cNvSpPr txBox="1"/>
          <p:nvPr/>
        </p:nvSpPr>
        <p:spPr>
          <a:xfrm>
            <a:off x="9097533" y="4132262"/>
            <a:ext cx="9819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SQL Warehouse</a:t>
            </a:r>
          </a:p>
        </p:txBody>
      </p:sp>
      <p:cxnSp>
        <p:nvCxnSpPr>
          <p:cNvPr id="2091" name="Straight Arrow Connector 2090">
            <a:extLst>
              <a:ext uri="{FF2B5EF4-FFF2-40B4-BE49-F238E27FC236}">
                <a16:creationId xmlns:a16="http://schemas.microsoft.com/office/drawing/2014/main" id="{B6E57B84-F17E-9915-4AED-D185A970D08C}"/>
              </a:ext>
            </a:extLst>
          </p:cNvPr>
          <p:cNvCxnSpPr>
            <a:cxnSpLocks/>
          </p:cNvCxnSpPr>
          <p:nvPr/>
        </p:nvCxnSpPr>
        <p:spPr>
          <a:xfrm flipH="1" flipV="1">
            <a:off x="7868902" y="4253531"/>
            <a:ext cx="346017" cy="4471"/>
          </a:xfrm>
          <a:prstGeom prst="straightConnector1">
            <a:avLst/>
          </a:prstGeom>
          <a:ln w="12700">
            <a:solidFill>
              <a:srgbClr val="00206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2" name="Picture 2091" descr="A red line with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DEC4BD57-D431-E955-23D5-743CAD2C9C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4820" y="4196358"/>
            <a:ext cx="376474" cy="297878"/>
          </a:xfrm>
          <a:prstGeom prst="rect">
            <a:avLst/>
          </a:prstGeom>
        </p:spPr>
      </p:pic>
      <p:sp>
        <p:nvSpPr>
          <p:cNvPr id="2095" name="Rectangle 2094">
            <a:extLst>
              <a:ext uri="{FF2B5EF4-FFF2-40B4-BE49-F238E27FC236}">
                <a16:creationId xmlns:a16="http://schemas.microsoft.com/office/drawing/2014/main" id="{5A09A993-CE07-3702-1A4D-CAD7C41A66EC}"/>
              </a:ext>
            </a:extLst>
          </p:cNvPr>
          <p:cNvSpPr/>
          <p:nvPr/>
        </p:nvSpPr>
        <p:spPr>
          <a:xfrm>
            <a:off x="2089385" y="1038405"/>
            <a:ext cx="8298841" cy="5757425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096" name="Group 2095">
            <a:extLst>
              <a:ext uri="{FF2B5EF4-FFF2-40B4-BE49-F238E27FC236}">
                <a16:creationId xmlns:a16="http://schemas.microsoft.com/office/drawing/2014/main" id="{41A1B0FF-A1F1-51E7-4714-2712FBA63486}"/>
              </a:ext>
            </a:extLst>
          </p:cNvPr>
          <p:cNvGrpSpPr/>
          <p:nvPr/>
        </p:nvGrpSpPr>
        <p:grpSpPr>
          <a:xfrm>
            <a:off x="2274628" y="1397468"/>
            <a:ext cx="1143212" cy="338554"/>
            <a:chOff x="2477260" y="2197986"/>
            <a:chExt cx="1143212" cy="338554"/>
          </a:xfrm>
        </p:grpSpPr>
        <p:pic>
          <p:nvPicPr>
            <p:cNvPr id="2097" name="Picture 4" descr="Virtual Network | Microsoft Azure Color">
              <a:extLst>
                <a:ext uri="{FF2B5EF4-FFF2-40B4-BE49-F238E27FC236}">
                  <a16:creationId xmlns:a16="http://schemas.microsoft.com/office/drawing/2014/main" id="{A76D932E-84E5-238A-73E1-A33E459781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7260" y="2274635"/>
              <a:ext cx="318636" cy="1853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98" name="TextBox 2097">
              <a:extLst>
                <a:ext uri="{FF2B5EF4-FFF2-40B4-BE49-F238E27FC236}">
                  <a16:creationId xmlns:a16="http://schemas.microsoft.com/office/drawing/2014/main" id="{00117300-0080-2709-1F2A-1F2144AC941E}"/>
                </a:ext>
              </a:extLst>
            </p:cNvPr>
            <p:cNvSpPr txBox="1"/>
            <p:nvPr/>
          </p:nvSpPr>
          <p:spPr>
            <a:xfrm>
              <a:off x="2592595" y="2197986"/>
              <a:ext cx="102787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19105B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 Azure Virtual Network</a:t>
              </a:r>
            </a:p>
          </p:txBody>
        </p:sp>
      </p:grpSp>
      <p:pic>
        <p:nvPicPr>
          <p:cNvPr id="2100" name="Picture 2099">
            <a:extLst>
              <a:ext uri="{FF2B5EF4-FFF2-40B4-BE49-F238E27FC236}">
                <a16:creationId xmlns:a16="http://schemas.microsoft.com/office/drawing/2014/main" id="{308C9E62-40F3-DC9F-5D73-2FC6028BCEF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94263" y="3869377"/>
            <a:ext cx="1221569" cy="336610"/>
          </a:xfrm>
          <a:prstGeom prst="rect">
            <a:avLst/>
          </a:prstGeom>
        </p:spPr>
      </p:pic>
      <p:pic>
        <p:nvPicPr>
          <p:cNvPr id="2107" name="Picture 2106">
            <a:extLst>
              <a:ext uri="{FF2B5EF4-FFF2-40B4-BE49-F238E27FC236}">
                <a16:creationId xmlns:a16="http://schemas.microsoft.com/office/drawing/2014/main" id="{08C1DEB7-60B1-6FC7-1B85-7A3E7BD42FF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flipH="1">
            <a:off x="1836129" y="3863574"/>
            <a:ext cx="290984" cy="290984"/>
          </a:xfrm>
          <a:prstGeom prst="rect">
            <a:avLst/>
          </a:prstGeom>
        </p:spPr>
      </p:pic>
      <p:pic>
        <p:nvPicPr>
          <p:cNvPr id="2108" name="Picture 2107">
            <a:extLst>
              <a:ext uri="{FF2B5EF4-FFF2-40B4-BE49-F238E27FC236}">
                <a16:creationId xmlns:a16="http://schemas.microsoft.com/office/drawing/2014/main" id="{3168965C-0DCA-2356-7969-8B6AF58110A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flipH="1">
            <a:off x="7031243" y="3727388"/>
            <a:ext cx="236892" cy="236892"/>
          </a:xfrm>
          <a:prstGeom prst="rect">
            <a:avLst/>
          </a:prstGeom>
        </p:spPr>
      </p:pic>
      <p:pic>
        <p:nvPicPr>
          <p:cNvPr id="2109" name="Picture 2108">
            <a:extLst>
              <a:ext uri="{FF2B5EF4-FFF2-40B4-BE49-F238E27FC236}">
                <a16:creationId xmlns:a16="http://schemas.microsoft.com/office/drawing/2014/main" id="{23D47942-4792-325D-D099-7025024E1B6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flipH="1">
            <a:off x="10364008" y="3796963"/>
            <a:ext cx="298929" cy="29892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D497A71-549B-7083-5629-8AD98C159427}"/>
              </a:ext>
            </a:extLst>
          </p:cNvPr>
          <p:cNvSpPr/>
          <p:nvPr/>
        </p:nvSpPr>
        <p:spPr>
          <a:xfrm>
            <a:off x="390672" y="1038406"/>
            <a:ext cx="1434694" cy="5749211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84C146-3A9F-2AD5-97C7-1C9916B96FB1}"/>
              </a:ext>
            </a:extLst>
          </p:cNvPr>
          <p:cNvSpPr txBox="1"/>
          <p:nvPr/>
        </p:nvSpPr>
        <p:spPr>
          <a:xfrm>
            <a:off x="419564" y="4137875"/>
            <a:ext cx="13981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API Endpoint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842E13E-9DC3-5C33-FE6B-4F52A97E8B98}"/>
              </a:ext>
            </a:extLst>
          </p:cNvPr>
          <p:cNvCxnSpPr>
            <a:cxnSpLocks/>
          </p:cNvCxnSpPr>
          <p:nvPr/>
        </p:nvCxnSpPr>
        <p:spPr>
          <a:xfrm>
            <a:off x="10377711" y="4196358"/>
            <a:ext cx="236892" cy="0"/>
          </a:xfrm>
          <a:prstGeom prst="straightConnector1">
            <a:avLst/>
          </a:prstGeom>
          <a:ln w="12700">
            <a:solidFill>
              <a:srgbClr val="00206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F58CD0D-2669-1A1C-2E6E-0F7EF45658F7}"/>
              </a:ext>
            </a:extLst>
          </p:cNvPr>
          <p:cNvCxnSpPr>
            <a:cxnSpLocks/>
          </p:cNvCxnSpPr>
          <p:nvPr/>
        </p:nvCxnSpPr>
        <p:spPr>
          <a:xfrm>
            <a:off x="1857366" y="4215966"/>
            <a:ext cx="232020" cy="0"/>
          </a:xfrm>
          <a:prstGeom prst="straightConnector1">
            <a:avLst/>
          </a:prstGeom>
          <a:ln w="12700">
            <a:solidFill>
              <a:srgbClr val="00206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46A20FA-7641-84EF-B380-A60E4A6ADB34}"/>
              </a:ext>
            </a:extLst>
          </p:cNvPr>
          <p:cNvSpPr/>
          <p:nvPr/>
        </p:nvSpPr>
        <p:spPr>
          <a:xfrm>
            <a:off x="10639011" y="1038407"/>
            <a:ext cx="1366822" cy="5757428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77117B-9EF4-6C01-0C4B-D4922CEB0F23}"/>
              </a:ext>
            </a:extLst>
          </p:cNvPr>
          <p:cNvSpPr txBox="1"/>
          <p:nvPr/>
        </p:nvSpPr>
        <p:spPr>
          <a:xfrm>
            <a:off x="4794723" y="1427671"/>
            <a:ext cx="35559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196"/>
              </a:buClr>
              <a:buSzPct val="120000"/>
              <a:buFontTx/>
              <a:buNone/>
              <a:tabLst/>
              <a:defRPr/>
            </a:pPr>
            <a:r>
              <a:rPr kumimoji="0" lang="en-GB" sz="1500" b="1" i="0" u="none" strike="noStrike" kern="1200" cap="none" spc="0" normalizeH="0" baseline="0" noProof="0" dirty="0">
                <a:ln>
                  <a:noFill/>
                </a:ln>
                <a:solidFill>
                  <a:srgbClr val="19105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Transformation and Data Processing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7EB071E6-26AB-609D-645C-BC9E73BC88BF}"/>
              </a:ext>
            </a:extLst>
          </p:cNvPr>
          <p:cNvCxnSpPr>
            <a:cxnSpLocks/>
            <a:stCxn id="34" idx="1"/>
            <a:endCxn id="2077" idx="2"/>
          </p:cNvCxnSpPr>
          <p:nvPr/>
        </p:nvCxnSpPr>
        <p:spPr>
          <a:xfrm rot="10800000">
            <a:off x="4683863" y="2960340"/>
            <a:ext cx="1527072" cy="467688"/>
          </a:xfrm>
          <a:prstGeom prst="bentConnector2">
            <a:avLst/>
          </a:prstGeom>
          <a:ln w="6350">
            <a:solidFill>
              <a:srgbClr val="002060"/>
            </a:solidFill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4B301F6-DA3D-EC75-EAD4-9749C95DD38A}"/>
              </a:ext>
            </a:extLst>
          </p:cNvPr>
          <p:cNvSpPr/>
          <p:nvPr/>
        </p:nvSpPr>
        <p:spPr>
          <a:xfrm>
            <a:off x="2184666" y="1419180"/>
            <a:ext cx="8122727" cy="463908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0AF230-3FD4-CDA9-3F3A-05BA02C4DCAF}"/>
              </a:ext>
            </a:extLst>
          </p:cNvPr>
          <p:cNvSpPr txBox="1"/>
          <p:nvPr/>
        </p:nvSpPr>
        <p:spPr>
          <a:xfrm>
            <a:off x="10727537" y="1386333"/>
            <a:ext cx="118730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196"/>
              </a:buClr>
              <a:buSzPct val="120000"/>
              <a:buFontTx/>
              <a:buNone/>
              <a:tabLst/>
              <a:defRPr/>
            </a:pPr>
            <a:r>
              <a:rPr kumimoji="0" lang="en-GB" sz="1500" b="1" i="0" u="none" strike="noStrike" kern="1200" cap="none" spc="0" normalizeH="0" baseline="0" noProof="0" dirty="0">
                <a:ln>
                  <a:noFill/>
                </a:ln>
                <a:solidFill>
                  <a:srgbClr val="19105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Reporting</a:t>
            </a:r>
          </a:p>
        </p:txBody>
      </p:sp>
      <p:sp>
        <p:nvSpPr>
          <p:cNvPr id="23" name="Title 120">
            <a:extLst>
              <a:ext uri="{FF2B5EF4-FFF2-40B4-BE49-F238E27FC236}">
                <a16:creationId xmlns:a16="http://schemas.microsoft.com/office/drawing/2014/main" id="{910E2D65-938B-90D0-7163-B9D2DC638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737" y="166633"/>
            <a:ext cx="11655096" cy="279353"/>
          </a:xfrm>
        </p:spPr>
        <p:txBody>
          <a:bodyPr>
            <a:noAutofit/>
          </a:bodyPr>
          <a:lstStyle/>
          <a:p>
            <a:r>
              <a:rPr lang="en-GB" sz="2800" b="1" dirty="0">
                <a:solidFill>
                  <a:srgbClr val="002060"/>
                </a:solidFill>
                <a:latin typeface="Arial (Body)"/>
              </a:rPr>
              <a:t>Azure Data Platform Architecture</a:t>
            </a:r>
            <a:endParaRPr lang="en-US" sz="2500" b="1" dirty="0">
              <a:solidFill>
                <a:srgbClr val="00206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556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342B7-A51D-1695-1538-EE5A8B3FA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4F3DB479-4B17-1740-913E-167E426D7CAD}"/>
              </a:ext>
            </a:extLst>
          </p:cNvPr>
          <p:cNvSpPr txBox="1">
            <a:spLocks/>
          </p:cNvSpPr>
          <p:nvPr/>
        </p:nvSpPr>
        <p:spPr>
          <a:xfrm>
            <a:off x="481262" y="2109916"/>
            <a:ext cx="11329737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b="1" dirty="0">
                <a:solidFill>
                  <a:schemeClr val="bg1">
                    <a:lumMod val="50000"/>
                  </a:schemeClr>
                </a:solidFill>
                <a:latin typeface="Arial (Body)"/>
              </a:rPr>
              <a:t>	AWS Data Platform Architecture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1C08794-8E3A-A89B-39D9-B2CA591FA6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8145" y="1967679"/>
            <a:ext cx="646267" cy="589892"/>
          </a:xfrm>
          <a:prstGeom prst="parallelogram">
            <a:avLst/>
          </a:prstGeom>
          <a:solidFill>
            <a:srgbClr val="C8C8C8"/>
          </a:solidFill>
        </p:spPr>
        <p:txBody>
          <a:bodyPr anchor="ctr"/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Arial (Body)"/>
              </a:rPr>
              <a:t>1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351BEFD7-E5AA-95CE-C94A-1AE8D1A41D8E}"/>
              </a:ext>
            </a:extLst>
          </p:cNvPr>
          <p:cNvSpPr txBox="1">
            <a:spLocks/>
          </p:cNvSpPr>
          <p:nvPr/>
        </p:nvSpPr>
        <p:spPr>
          <a:xfrm>
            <a:off x="427408" y="2812328"/>
            <a:ext cx="11329737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b="1" dirty="0">
                <a:solidFill>
                  <a:schemeClr val="bg1">
                    <a:lumMod val="50000"/>
                  </a:schemeClr>
                </a:solidFill>
                <a:latin typeface="Arial (Body)"/>
              </a:rPr>
              <a:t>	Azure Data Platform Architecture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F9D0E7D-00FD-2100-B59A-F22BE0B6F31D}"/>
              </a:ext>
            </a:extLst>
          </p:cNvPr>
          <p:cNvSpPr txBox="1">
            <a:spLocks/>
          </p:cNvSpPr>
          <p:nvPr/>
        </p:nvSpPr>
        <p:spPr>
          <a:xfrm>
            <a:off x="709291" y="2663216"/>
            <a:ext cx="646267" cy="589892"/>
          </a:xfrm>
          <a:prstGeom prst="parallelogram">
            <a:avLst/>
          </a:prstGeom>
          <a:solidFill>
            <a:srgbClr val="C8C8C8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b="1" dirty="0">
                <a:solidFill>
                  <a:schemeClr val="bg1"/>
                </a:solidFill>
                <a:latin typeface="Arial (Body)"/>
              </a:rPr>
              <a:t>2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235B258C-A36F-FD96-893D-AA00E757A6E7}"/>
              </a:ext>
            </a:extLst>
          </p:cNvPr>
          <p:cNvSpPr txBox="1">
            <a:spLocks/>
          </p:cNvSpPr>
          <p:nvPr/>
        </p:nvSpPr>
        <p:spPr>
          <a:xfrm>
            <a:off x="344908" y="3492976"/>
            <a:ext cx="11329737" cy="365760"/>
          </a:xfrm>
          <a:custGeom>
            <a:avLst/>
            <a:gdLst>
              <a:gd name="connsiteX0" fmla="*/ 102870 w 11430000"/>
              <a:gd name="connsiteY0" fmla="*/ 0 h 411480"/>
              <a:gd name="connsiteX1" fmla="*/ 11430000 w 11430000"/>
              <a:gd name="connsiteY1" fmla="*/ 0 h 411480"/>
              <a:gd name="connsiteX2" fmla="*/ 11327130 w 11430000"/>
              <a:gd name="connsiteY2" fmla="*/ 411480 h 411480"/>
              <a:gd name="connsiteX3" fmla="*/ 0 w 11430000"/>
              <a:gd name="connsiteY3" fmla="*/ 411480 h 411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0" h="411480">
                <a:moveTo>
                  <a:pt x="102870" y="0"/>
                </a:moveTo>
                <a:lnTo>
                  <a:pt x="11430000" y="0"/>
                </a:lnTo>
                <a:lnTo>
                  <a:pt x="11327130" y="411480"/>
                </a:lnTo>
                <a:lnTo>
                  <a:pt x="0" y="4114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b="1" dirty="0">
                <a:solidFill>
                  <a:srgbClr val="C8C8C8"/>
                </a:solidFill>
                <a:latin typeface="Arial (Body)"/>
              </a:rPr>
              <a:t>	</a:t>
            </a:r>
            <a:r>
              <a:rPr lang="en-US" sz="1600" b="1" dirty="0">
                <a:solidFill>
                  <a:srgbClr val="002060"/>
                </a:solidFill>
                <a:latin typeface="Arial (Body)"/>
              </a:rPr>
              <a:t>Cost Estimation - AWS vs Azure</a:t>
            </a:r>
            <a:endParaRPr lang="en-GB" sz="1600" b="1" dirty="0">
              <a:solidFill>
                <a:srgbClr val="002060"/>
              </a:solidFill>
              <a:latin typeface="Arial (Body)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51F8849-937A-B433-0EDF-D962F688F648}"/>
              </a:ext>
            </a:extLst>
          </p:cNvPr>
          <p:cNvSpPr txBox="1">
            <a:spLocks/>
          </p:cNvSpPr>
          <p:nvPr/>
        </p:nvSpPr>
        <p:spPr>
          <a:xfrm>
            <a:off x="592416" y="3350739"/>
            <a:ext cx="646267" cy="589892"/>
          </a:xfrm>
          <a:prstGeom prst="parallelogram">
            <a:avLst/>
          </a:prstGeom>
          <a:solidFill>
            <a:srgbClr val="1DD3CF"/>
          </a:solidFill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b="1" dirty="0">
                <a:solidFill>
                  <a:schemeClr val="bg1"/>
                </a:solidFill>
                <a:latin typeface="Arial (Body)"/>
              </a:rPr>
              <a:t>3</a:t>
            </a:r>
          </a:p>
        </p:txBody>
      </p:sp>
      <p:sp>
        <p:nvSpPr>
          <p:cNvPr id="12" name="Title 9">
            <a:extLst>
              <a:ext uri="{FF2B5EF4-FFF2-40B4-BE49-F238E27FC236}">
                <a16:creationId xmlns:a16="http://schemas.microsoft.com/office/drawing/2014/main" id="{05DC5F6F-32EF-1FF8-AFA7-53160E938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645" y="515075"/>
            <a:ext cx="11430000" cy="958265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rgbClr val="002060"/>
                </a:solidFill>
                <a:latin typeface="Arial (Headings)"/>
              </a:rPr>
              <a:t>Agenda - AWS vs Azure Architecture</a:t>
            </a:r>
          </a:p>
        </p:txBody>
      </p:sp>
    </p:spTree>
    <p:extLst>
      <p:ext uri="{BB962C8B-B14F-4D97-AF65-F5344CB8AC3E}">
        <p14:creationId xmlns:p14="http://schemas.microsoft.com/office/powerpoint/2010/main" val="3755670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E2064-2855-264B-B450-323B68CEB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750" y="76368"/>
            <a:ext cx="10515600" cy="611152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</a:rPr>
              <a:t>AWS vs Azure Data Platform – Cost Comparison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01B66-96CD-5AE7-D048-C26B0A655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750" y="687520"/>
            <a:ext cx="10432525" cy="5688954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</a:rPr>
              <a:t>AWS  Reference - </a:t>
            </a:r>
            <a:r>
              <a:rPr lang="en-IN" sz="1600" dirty="0">
                <a:solidFill>
                  <a:srgbClr val="002060"/>
                </a:solidFill>
                <a:latin typeface="Arial" panose="020B0604020202020204" pitchFamily="34" charset="0"/>
                <a:hlinkClick r:id="rId2"/>
              </a:rPr>
              <a:t>https://aws.amazon.com/pricing/</a:t>
            </a:r>
            <a:r>
              <a:rPr lang="en-IN" sz="1600" dirty="0">
                <a:solidFill>
                  <a:srgbClr val="002060"/>
                </a:solidFill>
                <a:latin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</a:rPr>
              <a:t>Azure Reference - </a:t>
            </a:r>
            <a:r>
              <a:rPr lang="en-IN" sz="1600" dirty="0">
                <a:solidFill>
                  <a:srgbClr val="002060"/>
                </a:solidFill>
                <a:latin typeface="Arial" panose="020B0604020202020204" pitchFamily="34" charset="0"/>
                <a:hlinkClick r:id="rId3"/>
              </a:rPr>
              <a:t>https://azure.microsoft.com/pricing/</a:t>
            </a:r>
            <a:r>
              <a:rPr lang="en-IN" sz="1600" dirty="0">
                <a:solidFill>
                  <a:srgbClr val="002060"/>
                </a:solidFill>
                <a:latin typeface="Arial" panose="020B0604020202020204" pitchFamily="34" charset="0"/>
              </a:rPr>
              <a:t>  </a:t>
            </a:r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40168E6-CE0C-98B9-1671-502FC1339E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275344"/>
              </p:ext>
            </p:extLst>
          </p:nvPr>
        </p:nvGraphicFramePr>
        <p:xfrm>
          <a:off x="394750" y="1505573"/>
          <a:ext cx="11148690" cy="462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9738">
                  <a:extLst>
                    <a:ext uri="{9D8B030D-6E8A-4147-A177-3AD203B41FA5}">
                      <a16:colId xmlns:a16="http://schemas.microsoft.com/office/drawing/2014/main" val="970108840"/>
                    </a:ext>
                  </a:extLst>
                </a:gridCol>
                <a:gridCol w="2229738">
                  <a:extLst>
                    <a:ext uri="{9D8B030D-6E8A-4147-A177-3AD203B41FA5}">
                      <a16:colId xmlns:a16="http://schemas.microsoft.com/office/drawing/2014/main" val="2841891914"/>
                    </a:ext>
                  </a:extLst>
                </a:gridCol>
                <a:gridCol w="2229738">
                  <a:extLst>
                    <a:ext uri="{9D8B030D-6E8A-4147-A177-3AD203B41FA5}">
                      <a16:colId xmlns:a16="http://schemas.microsoft.com/office/drawing/2014/main" val="2876052048"/>
                    </a:ext>
                  </a:extLst>
                </a:gridCol>
                <a:gridCol w="2229738">
                  <a:extLst>
                    <a:ext uri="{9D8B030D-6E8A-4147-A177-3AD203B41FA5}">
                      <a16:colId xmlns:a16="http://schemas.microsoft.com/office/drawing/2014/main" val="2672346488"/>
                    </a:ext>
                  </a:extLst>
                </a:gridCol>
                <a:gridCol w="2229738">
                  <a:extLst>
                    <a:ext uri="{9D8B030D-6E8A-4147-A177-3AD203B41FA5}">
                      <a16:colId xmlns:a16="http://schemas.microsoft.com/office/drawing/2014/main" val="22788236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Layer</a:t>
                      </a:r>
                    </a:p>
                  </a:txBody>
                  <a:tcPr marL="60435" marR="60435" marT="30218" marB="30218" anchor="ctr">
                    <a:solidFill>
                      <a:srgbClr val="043B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AWS Service</a:t>
                      </a:r>
                    </a:p>
                  </a:txBody>
                  <a:tcPr marL="60435" marR="60435" marT="30218" marB="30218" anchor="ctr">
                    <a:solidFill>
                      <a:srgbClr val="043B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Azure Equivalent</a:t>
                      </a:r>
                    </a:p>
                  </a:txBody>
                  <a:tcPr marL="60435" marR="60435" marT="30218" marB="30218" anchor="ctr">
                    <a:solidFill>
                      <a:srgbClr val="043B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Estimated AWS Cost</a:t>
                      </a:r>
                    </a:p>
                  </a:txBody>
                  <a:tcPr marL="60435" marR="60435" marT="30218" marB="30218" anchor="ctr">
                    <a:solidFill>
                      <a:srgbClr val="043B7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Estimated Azure Cost</a:t>
                      </a:r>
                    </a:p>
                  </a:txBody>
                  <a:tcPr marL="60435" marR="60435" marT="30218" marB="30218" anchor="ctr">
                    <a:solidFill>
                      <a:srgbClr val="043B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609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Processing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AWS Glue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Azure Databricks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$88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$80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575748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Storage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Amazon S3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Azure Data Lake Storage Gen2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$23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$23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926568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Lake Format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Delta Lake on S3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Delta Lake on ADLS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$0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$0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2473527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Query Layer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Amazon Athena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Databricks SQL Warehouse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$25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$40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79802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Governance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AWS IAM / Glue Catalog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Unity Catalog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Included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Included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910102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Secrets Management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AWS Secrets Manager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Azure Key Vault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$4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$3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75087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Monitoring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AWS CloudWatch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Azure Monitor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$5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$5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794435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Security Protection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AWS Shield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Microsoft Defender for Cloud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$0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$10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4102489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Version Control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AWS CodeCommit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Azure DevOps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$0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$0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112935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CI/CD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CodePipeline + CodeBuild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Azure Repos &amp; Pipelines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$11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$10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522816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Networking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AWS VPC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Azure Virtual Network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$5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$5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404917949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44F01C8-C890-217C-C2FC-AF6D9FF76E65}"/>
              </a:ext>
            </a:extLst>
          </p:cNvPr>
          <p:cNvSpPr txBox="1"/>
          <p:nvPr/>
        </p:nvSpPr>
        <p:spPr>
          <a:xfrm>
            <a:off x="325999" y="6174296"/>
            <a:ext cx="111486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The estimated monthly cost - AWS ~$150/month and Azure ~$170/month, depending on data volume, processing workload, and query frequency.</a:t>
            </a:r>
          </a:p>
        </p:txBody>
      </p:sp>
    </p:spTree>
    <p:extLst>
      <p:ext uri="{BB962C8B-B14F-4D97-AF65-F5344CB8AC3E}">
        <p14:creationId xmlns:p14="http://schemas.microsoft.com/office/powerpoint/2010/main" val="3571938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100000">
              <a:srgbClr val="1DD3CF"/>
            </a:gs>
          </a:gsLst>
          <a:lin ang="18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4DDC61-1CF9-A299-9D7E-AE5205D6E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7">
            <a:extLst>
              <a:ext uri="{FF2B5EF4-FFF2-40B4-BE49-F238E27FC236}">
                <a16:creationId xmlns:a16="http://schemas.microsoft.com/office/drawing/2014/main" id="{739BED79-49B8-996E-4DC1-CBDFF022F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281" y="4609431"/>
            <a:ext cx="8592568" cy="1325563"/>
          </a:xfr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Arial (Headings)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924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506</TotalTime>
  <Words>590</Words>
  <Application>Microsoft Office PowerPoint</Application>
  <PresentationFormat>Widescreen</PresentationFormat>
  <Paragraphs>185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(Body)</vt:lpstr>
      <vt:lpstr>Arial (Headings)</vt:lpstr>
      <vt:lpstr>Calibri</vt:lpstr>
      <vt:lpstr>Calibri Light</vt:lpstr>
      <vt:lpstr>Segoe UI Semibold</vt:lpstr>
      <vt:lpstr>Office Theme</vt:lpstr>
      <vt:lpstr>HDB - Proposed Data Platform Architectures: AWS vs Azure</vt:lpstr>
      <vt:lpstr>Agenda - AWS vs Azure Data Platform Architecture</vt:lpstr>
      <vt:lpstr>AWS Data Platform Architecture</vt:lpstr>
      <vt:lpstr>Agenda - AWS vs Azure Architecture</vt:lpstr>
      <vt:lpstr>Azure Data Platform Architecture</vt:lpstr>
      <vt:lpstr>Agenda - AWS vs Azure Architecture</vt:lpstr>
      <vt:lpstr>AWS vs Azure Data Platform – Cost Comparison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Sulthan</dc:creator>
  <cp:lastModifiedBy>Mohamed Sulthan</cp:lastModifiedBy>
  <cp:revision>31</cp:revision>
  <dcterms:created xsi:type="dcterms:W3CDTF">2026-03-12T18:31:28Z</dcterms:created>
  <dcterms:modified xsi:type="dcterms:W3CDTF">2026-03-14T11:55:15Z</dcterms:modified>
</cp:coreProperties>
</file>