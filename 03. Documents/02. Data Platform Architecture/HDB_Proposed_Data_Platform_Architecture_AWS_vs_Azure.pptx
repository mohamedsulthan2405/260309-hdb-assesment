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3" d="100"/>
          <a:sy n="93" d="100"/>
        </p:scale>
        <p:origin x="74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AFB9EB-9CD6-45FB-A8EC-29AA3ABAF811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F0120-A437-4871-95D5-AC23516435F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3874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4F1BB5-54EB-4C21-AA5E-F5BCF414A487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0692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593D9-F1AD-1A2B-9276-E87850A46A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B32403-3E98-565C-80B2-0EE8866035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3F1EF1-738E-A6BB-FD49-4046C712C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B3BA0-54EC-4B29-871F-BFECD1E8D131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DD8450-FA30-0BC2-A71B-DF9AE659C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62A7F-504A-8781-695A-04E10967B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9904D-DEF8-408B-A47B-AB9724D74B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4234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B007E-B608-B063-5F94-0DB42A36C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217538-22ED-D3F0-ABC4-F523DF3019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87642-EB0D-19F4-E884-B5FADE729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B3BA0-54EC-4B29-871F-BFECD1E8D131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7B5DA0-409A-B6FA-B530-22027F570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663A4C-2337-240E-6E2C-CDF8B46B5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9904D-DEF8-408B-A47B-AB9724D74B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8672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593B0-FBD9-4E4E-03CA-2EEE9251F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1B56C3-9D18-BB38-4A22-8751CCFAB8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3E3B2-12BE-4327-958A-B96CD4E86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B3BA0-54EC-4B29-871F-BFECD1E8D131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1A2B91-052C-6263-E6FB-748ECE716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D4E8C6-970C-92B3-F36E-A9DC3FB6D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9904D-DEF8-408B-A47B-AB9724D74B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5041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C8760D-0946-C130-AD4E-ADFC6796C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8E9D7-4F5F-C2C3-717B-41124B617D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B61DE7-CAB2-A99C-CC57-BC45C5CD9F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B57F7-AC82-7CE4-46D5-20B93ACF2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B3BA0-54EC-4B29-871F-BFECD1E8D131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B7A453-C00C-5DFF-3B30-899928D798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D8CAF7-666A-C5E2-0CA2-587EF5420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9904D-DEF8-408B-A47B-AB9724D74B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31821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C6062-4982-BC52-902D-5342E2538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38AC9E-5B2D-4ADB-C476-C45F60F2A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5235C0-0701-E2BC-2E14-5722BEF645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B5EFF0-0E8D-CD91-DA1D-4FB72B07A2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60C613-7244-5332-C2DE-4BC8F3E207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4E4686-3EA7-3677-E9D0-F584147BD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B3BA0-54EC-4B29-871F-BFECD1E8D131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E04FABC-E8D0-21E2-7E49-E7371FD72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140653-D8F0-42AC-75B1-A4B94F571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9904D-DEF8-408B-A47B-AB9724D74B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5088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CF98F-2A3F-C6BA-78D3-F01068AC4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61BFE4-5FD3-063B-2109-BD2E7F749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B3BA0-54EC-4B29-871F-BFECD1E8D131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9E052C-7C20-AF85-587F-0FE9EDC32E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DD81ED-3DD0-E4B8-28AC-1CDF5B18B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9904D-DEF8-408B-A47B-AB9724D74B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7716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80A591-E4F9-BE13-7A4C-48F67518C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B3BA0-54EC-4B29-871F-BFECD1E8D131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6DEC73E-C49B-B93B-B39C-0F42DBE8E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7AC0EB-18F0-72F2-321E-DE6D4D87F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9904D-DEF8-408B-A47B-AB9724D74B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9701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4C1AC-2F13-7DC4-F98C-D68F28B9A6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4CBE9-7D0D-3D02-899C-C23D91221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F4BA5B-4E12-0B0A-D439-7AF3975E1B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4D1EB-1F11-2F03-2089-D1AC2286C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B3BA0-54EC-4B29-871F-BFECD1E8D131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815575-C3E2-4225-278C-8F9020302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78E7FF-1BB3-602F-D61E-DA85E3F51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9904D-DEF8-408B-A47B-AB9724D74B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85909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1FA21-8E11-86DB-43E3-0E57727E9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7CF446-0445-8EC8-3F0C-A5FAA1B8BF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7406B8-5EA5-ECF3-0DE5-D58D2B09A9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1016F1-FAEB-B4E9-4671-1063C4008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B3BA0-54EC-4B29-871F-BFECD1E8D131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2B803-FAE5-63F0-816F-052C1C5FB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9FEBAC-BDB5-313B-6420-4BC300B57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9904D-DEF8-408B-A47B-AB9724D74B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11282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AB506-94A1-CAE2-8BA9-E7AC009C60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D58546-3922-7722-22BC-C9F9D7D96A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0329FB-25ED-D786-18DB-3D8F2AF3F1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B3BA0-54EC-4B29-871F-BFECD1E8D131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DD0B07-AE2E-E611-D9C3-249538F70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32B77E-F974-C712-12FC-1E824085F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9904D-DEF8-408B-A47B-AB9724D74B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8356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0604CC-4D8C-2E2B-FC2F-578AC1FB25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23EE7E-6933-7B2B-6479-A1C8CCAF1F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CF9FD7-8DF7-3A62-CE18-B9772430CF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5B3BA0-54EC-4B29-871F-BFECD1E8D131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8EB163-0CA3-7EED-5535-96FA13EF6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4A00B4-822E-73A5-CB19-8338988B1D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19904D-DEF8-408B-A47B-AB9724D74B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6172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572E33-5BD0-A069-662D-AFE4BE4F1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F48E70-CF98-B3BD-32BB-D15A0BC43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23D41D-0014-153A-CE70-AB7B4394FA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5B3BA0-54EC-4B29-871F-BFECD1E8D131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D57CF-D444-5B23-06E5-B37A2E114B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37225-D87F-B957-3BC9-44957DF065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19904D-DEF8-408B-A47B-AB9724D74B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58507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svg"/><Relationship Id="rId21" Type="http://schemas.openxmlformats.org/officeDocument/2006/relationships/image" Target="../media/image19.svg"/><Relationship Id="rId34" Type="http://schemas.openxmlformats.org/officeDocument/2006/relationships/image" Target="../media/image32.png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5" Type="http://schemas.openxmlformats.org/officeDocument/2006/relationships/image" Target="../media/image23.svg"/><Relationship Id="rId33" Type="http://schemas.openxmlformats.org/officeDocument/2006/relationships/image" Target="../media/image31.svg"/><Relationship Id="rId38" Type="http://schemas.openxmlformats.org/officeDocument/2006/relationships/image" Target="../media/image36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svg"/><Relationship Id="rId5" Type="http://schemas.openxmlformats.org/officeDocument/2006/relationships/image" Target="../media/image3.pn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31" Type="http://schemas.openxmlformats.org/officeDocument/2006/relationships/image" Target="../media/image29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svg"/><Relationship Id="rId30" Type="http://schemas.openxmlformats.org/officeDocument/2006/relationships/image" Target="../media/image28.png"/><Relationship Id="rId35" Type="http://schemas.openxmlformats.org/officeDocument/2006/relationships/image" Target="../media/image33.svg"/><Relationship Id="rId8" Type="http://schemas.openxmlformats.org/officeDocument/2006/relationships/image" Target="../media/image6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1AA3B1D-16DF-7332-0D2C-5B34F9BF35FE}"/>
              </a:ext>
            </a:extLst>
          </p:cNvPr>
          <p:cNvSpPr/>
          <p:nvPr/>
        </p:nvSpPr>
        <p:spPr>
          <a:xfrm>
            <a:off x="200476" y="1217806"/>
            <a:ext cx="1389641" cy="54717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>
              <a:solidFill>
                <a:schemeClr val="tx1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6B15FA-41F6-996A-AE8C-68B41D4364B7}"/>
              </a:ext>
            </a:extLst>
          </p:cNvPr>
          <p:cNvSpPr txBox="1"/>
          <p:nvPr/>
        </p:nvSpPr>
        <p:spPr>
          <a:xfrm>
            <a:off x="10816864" y="779673"/>
            <a:ext cx="1215908" cy="3231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Dashboard</a:t>
            </a:r>
            <a:endParaRPr kumimoji="0" lang="en-IN" sz="1500" b="1" i="0" u="none" strike="noStrike" kern="1200" cap="none" spc="0" normalizeH="0" baseline="0" noProof="0" dirty="0">
              <a:ln>
                <a:noFill/>
              </a:ln>
              <a:solidFill>
                <a:srgbClr val="19105B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C8CBFB-1432-51DF-E3C3-12F7BA9DF489}"/>
              </a:ext>
            </a:extLst>
          </p:cNvPr>
          <p:cNvSpPr txBox="1"/>
          <p:nvPr/>
        </p:nvSpPr>
        <p:spPr>
          <a:xfrm>
            <a:off x="200476" y="786548"/>
            <a:ext cx="1402986" cy="3231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Data Sources</a:t>
            </a:r>
            <a:endParaRPr kumimoji="0" lang="en-IN" sz="1500" b="1" i="0" u="none" strike="noStrike" kern="1200" cap="none" spc="0" normalizeH="0" baseline="0" noProof="0" dirty="0">
              <a:ln>
                <a:noFill/>
              </a:ln>
              <a:solidFill>
                <a:srgbClr val="19105B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4E9CAD-5268-13F0-6B06-C807E27B90AB}"/>
              </a:ext>
            </a:extLst>
          </p:cNvPr>
          <p:cNvSpPr/>
          <p:nvPr/>
        </p:nvSpPr>
        <p:spPr>
          <a:xfrm>
            <a:off x="10839606" y="1217806"/>
            <a:ext cx="1151286" cy="546388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Title 120">
            <a:extLst>
              <a:ext uri="{FF2B5EF4-FFF2-40B4-BE49-F238E27FC236}">
                <a16:creationId xmlns:a16="http://schemas.microsoft.com/office/drawing/2014/main" id="{C35EF647-05DD-8001-5FED-C30A118E0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74" y="173961"/>
            <a:ext cx="11446615" cy="494530"/>
          </a:xfrm>
        </p:spPr>
        <p:txBody>
          <a:bodyPr>
            <a:noAutofit/>
          </a:bodyPr>
          <a:lstStyle/>
          <a:p>
            <a:r>
              <a:rPr lang="en-GB" sz="2800" b="1" dirty="0">
                <a:solidFill>
                  <a:srgbClr val="002060"/>
                </a:solidFill>
                <a:latin typeface="Arial (Body)"/>
              </a:rPr>
              <a:t>AWS Data Platform Architecture</a:t>
            </a:r>
            <a:endParaRPr lang="en-US" sz="25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CAD7CE-5529-5D21-8D9E-2B41EA0B6396}"/>
              </a:ext>
            </a:extLst>
          </p:cNvPr>
          <p:cNvSpPr txBox="1"/>
          <p:nvPr/>
        </p:nvSpPr>
        <p:spPr>
          <a:xfrm>
            <a:off x="1852621" y="779672"/>
            <a:ext cx="8683117" cy="3231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19105B"/>
                </a:solidFill>
                <a:latin typeface="Arial"/>
              </a:rPr>
              <a:t>AWS - Data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Platform</a:t>
            </a:r>
            <a:endParaRPr kumimoji="0" lang="en-IN" sz="1500" b="1" i="0" u="none" strike="noStrike" kern="1200" cap="none" spc="0" normalizeH="0" baseline="0" noProof="0" dirty="0">
              <a:ln>
                <a:noFill/>
              </a:ln>
              <a:solidFill>
                <a:srgbClr val="19105B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0" name="Group 9" descr="Virtual private cloud (VPC) group.">
            <a:extLst>
              <a:ext uri="{FF2B5EF4-FFF2-40B4-BE49-F238E27FC236}">
                <a16:creationId xmlns:a16="http://schemas.microsoft.com/office/drawing/2014/main" id="{95548465-6443-54FD-D8BF-C104943702F1}"/>
              </a:ext>
            </a:extLst>
          </p:cNvPr>
          <p:cNvGrpSpPr/>
          <p:nvPr/>
        </p:nvGrpSpPr>
        <p:grpSpPr>
          <a:xfrm>
            <a:off x="1930141" y="1561024"/>
            <a:ext cx="7726196" cy="3548895"/>
            <a:chOff x="2279634" y="2615733"/>
            <a:chExt cx="1764249" cy="86644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9399A62-DDD6-D5B7-22EC-F508171322F7}"/>
                </a:ext>
              </a:extLst>
            </p:cNvPr>
            <p:cNvSpPr/>
            <p:nvPr/>
          </p:nvSpPr>
          <p:spPr>
            <a:xfrm>
              <a:off x="2279634" y="2615733"/>
              <a:ext cx="1764249" cy="866440"/>
            </a:xfrm>
            <a:prstGeom prst="rect">
              <a:avLst/>
            </a:prstGeom>
            <a:noFill/>
            <a:ln w="15875">
              <a:solidFill>
                <a:srgbClr val="8C4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Graphic 11" descr="VPC group icon. ">
              <a:extLst>
                <a:ext uri="{FF2B5EF4-FFF2-40B4-BE49-F238E27FC236}">
                  <a16:creationId xmlns:a16="http://schemas.microsoft.com/office/drawing/2014/main" id="{8F687891-5C2B-7C59-4C1B-7C94EBC1E9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2283292" y="2618865"/>
              <a:ext cx="86450" cy="86449"/>
            </a:xfrm>
            <a:prstGeom prst="rect">
              <a:avLst/>
            </a:prstGeom>
          </p:spPr>
        </p:pic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DBC5A22-D240-5A15-24D2-A02E256161BA}"/>
              </a:ext>
            </a:extLst>
          </p:cNvPr>
          <p:cNvSpPr/>
          <p:nvPr/>
        </p:nvSpPr>
        <p:spPr>
          <a:xfrm>
            <a:off x="1994199" y="2011929"/>
            <a:ext cx="1452099" cy="4285452"/>
          </a:xfrm>
          <a:prstGeom prst="rect">
            <a:avLst/>
          </a:prstGeom>
          <a:noFill/>
          <a:ln w="9525">
            <a:solidFill>
              <a:schemeClr val="tx1">
                <a:lumMod val="90000"/>
                <a:lumOff val="1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196"/>
              </a:buClr>
              <a:buSzPct val="120000"/>
              <a:buFontTx/>
              <a:buNone/>
              <a:tabLst/>
              <a:defRPr/>
            </a:pPr>
            <a:r>
              <a:rPr lang="en-GB" sz="1400" b="1" dirty="0">
                <a:solidFill>
                  <a:srgbClr val="19105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Ingestion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CF8F86-D1A7-35AA-169F-C463508EB6E2}"/>
              </a:ext>
            </a:extLst>
          </p:cNvPr>
          <p:cNvSpPr/>
          <p:nvPr/>
        </p:nvSpPr>
        <p:spPr>
          <a:xfrm>
            <a:off x="3651907" y="1953257"/>
            <a:ext cx="5883978" cy="1721354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196"/>
              </a:buClr>
              <a:buSzPct val="120000"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Transformation and Data Processing</a:t>
            </a:r>
          </a:p>
        </p:txBody>
      </p:sp>
      <p:sp>
        <p:nvSpPr>
          <p:cNvPr id="15" name="Arrow: Pentagon 14">
            <a:extLst>
              <a:ext uri="{FF2B5EF4-FFF2-40B4-BE49-F238E27FC236}">
                <a16:creationId xmlns:a16="http://schemas.microsoft.com/office/drawing/2014/main" id="{A6487339-AF33-392F-7E3A-9F61A9B697EE}"/>
              </a:ext>
            </a:extLst>
          </p:cNvPr>
          <p:cNvSpPr/>
          <p:nvPr/>
        </p:nvSpPr>
        <p:spPr>
          <a:xfrm>
            <a:off x="7388969" y="2312883"/>
            <a:ext cx="1995657" cy="591476"/>
          </a:xfrm>
          <a:prstGeom prst="homePlate">
            <a:avLst/>
          </a:prstGeom>
          <a:solidFill>
            <a:srgbClr val="FFD7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54000" rIns="54000" bIns="5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Data Mart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(Business level data)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Ready for consumption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&amp; distribution</a:t>
            </a:r>
          </a:p>
        </p:txBody>
      </p:sp>
      <p:sp>
        <p:nvSpPr>
          <p:cNvPr id="16" name="Arrow: Pentagon 15">
            <a:extLst>
              <a:ext uri="{FF2B5EF4-FFF2-40B4-BE49-F238E27FC236}">
                <a16:creationId xmlns:a16="http://schemas.microsoft.com/office/drawing/2014/main" id="{96702D3C-5570-408E-F5D5-03358251BF79}"/>
              </a:ext>
            </a:extLst>
          </p:cNvPr>
          <p:cNvSpPr/>
          <p:nvPr/>
        </p:nvSpPr>
        <p:spPr>
          <a:xfrm>
            <a:off x="3781400" y="2325283"/>
            <a:ext cx="1944000" cy="592507"/>
          </a:xfrm>
          <a:prstGeom prst="homePlate">
            <a:avLst/>
          </a:prstGeom>
          <a:solidFill>
            <a:srgbClr val="D2BD9E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54000" rIns="54000" bIns="5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Landing zone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(As-is)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Raw data from source systems</a:t>
            </a:r>
          </a:p>
        </p:txBody>
      </p:sp>
      <p:sp>
        <p:nvSpPr>
          <p:cNvPr id="17" name="Arrow: Pentagon 16">
            <a:extLst>
              <a:ext uri="{FF2B5EF4-FFF2-40B4-BE49-F238E27FC236}">
                <a16:creationId xmlns:a16="http://schemas.microsoft.com/office/drawing/2014/main" id="{F397C6DE-ADA2-D3B4-B984-C9ABBA65962B}"/>
              </a:ext>
            </a:extLst>
          </p:cNvPr>
          <p:cNvSpPr/>
          <p:nvPr/>
        </p:nvSpPr>
        <p:spPr>
          <a:xfrm>
            <a:off x="5629872" y="2331432"/>
            <a:ext cx="1944000" cy="579528"/>
          </a:xfrm>
          <a:prstGeom prst="homePlate">
            <a:avLst/>
          </a:prstGeom>
          <a:solidFill>
            <a:srgbClr val="D5DDE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54000" rIns="54000" bIns="5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Single Source of Truth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(Cleaned)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Enterprise view of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key business entities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EA8D42-7F4B-8ED7-D5D8-83F6F7A9FE8E}"/>
              </a:ext>
            </a:extLst>
          </p:cNvPr>
          <p:cNvSpPr txBox="1"/>
          <p:nvPr/>
        </p:nvSpPr>
        <p:spPr>
          <a:xfrm>
            <a:off x="7730092" y="3146440"/>
            <a:ext cx="980505" cy="2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D7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Gold</a:t>
            </a:r>
            <a:endParaRPr kumimoji="0" lang="en-IN" sz="1000" b="1" i="0" u="none" strike="noStrike" kern="1200" cap="none" spc="0" normalizeH="0" baseline="0" noProof="0">
              <a:ln>
                <a:noFill/>
              </a:ln>
              <a:solidFill>
                <a:srgbClr val="FFD7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" name="Graphic 26">
            <a:extLst>
              <a:ext uri="{FF2B5EF4-FFF2-40B4-BE49-F238E27FC236}">
                <a16:creationId xmlns:a16="http://schemas.microsoft.com/office/drawing/2014/main" id="{C62653D7-434F-DD48-9580-091532AF8014}"/>
              </a:ext>
            </a:extLst>
          </p:cNvPr>
          <p:cNvSpPr/>
          <p:nvPr/>
        </p:nvSpPr>
        <p:spPr>
          <a:xfrm>
            <a:off x="8055550" y="2976907"/>
            <a:ext cx="324000" cy="250324"/>
          </a:xfrm>
          <a:custGeom>
            <a:avLst/>
            <a:gdLst>
              <a:gd name="connsiteX0" fmla="*/ 0 w 588303"/>
              <a:gd name="connsiteY0" fmla="*/ 589691 h 623327"/>
              <a:gd name="connsiteX1" fmla="*/ 229874 w 588303"/>
              <a:gd name="connsiteY1" fmla="*/ 460357 h 623327"/>
              <a:gd name="connsiteX2" fmla="*/ 313183 w 588303"/>
              <a:gd name="connsiteY2" fmla="*/ 494867 h 623327"/>
              <a:gd name="connsiteX3" fmla="*/ 396835 w 588303"/>
              <a:gd name="connsiteY3" fmla="*/ 528999 h 623327"/>
              <a:gd name="connsiteX4" fmla="*/ 461465 w 588303"/>
              <a:gd name="connsiteY4" fmla="*/ 527479 h 623327"/>
              <a:gd name="connsiteX5" fmla="*/ 473562 w 588303"/>
              <a:gd name="connsiteY5" fmla="*/ 497530 h 623327"/>
              <a:gd name="connsiteX6" fmla="*/ 409961 w 588303"/>
              <a:gd name="connsiteY6" fmla="*/ 378051 h 623327"/>
              <a:gd name="connsiteX7" fmla="*/ 312485 w 588303"/>
              <a:gd name="connsiteY7" fmla="*/ 194856 h 623327"/>
              <a:gd name="connsiteX8" fmla="*/ 287947 w 588303"/>
              <a:gd name="connsiteY8" fmla="*/ 195233 h 623327"/>
              <a:gd name="connsiteX9" fmla="*/ 210165 w 588303"/>
              <a:gd name="connsiteY9" fmla="*/ 340880 h 623327"/>
              <a:gd name="connsiteX10" fmla="*/ 204282 w 588303"/>
              <a:gd name="connsiteY10" fmla="*/ 354531 h 623327"/>
              <a:gd name="connsiteX11" fmla="*/ 281033 w 588303"/>
              <a:gd name="connsiteY11" fmla="*/ 391702 h 623327"/>
              <a:gd name="connsiteX12" fmla="*/ 320095 w 588303"/>
              <a:gd name="connsiteY12" fmla="*/ 422809 h 623327"/>
              <a:gd name="connsiteX13" fmla="*/ 332194 w 588303"/>
              <a:gd name="connsiteY13" fmla="*/ 443291 h 623327"/>
              <a:gd name="connsiteX14" fmla="*/ 310070 w 588303"/>
              <a:gd name="connsiteY14" fmla="*/ 441394 h 623327"/>
              <a:gd name="connsiteX15" fmla="*/ 225033 w 588303"/>
              <a:gd name="connsiteY15" fmla="*/ 419393 h 623327"/>
              <a:gd name="connsiteX16" fmla="*/ 76396 w 588303"/>
              <a:gd name="connsiteY16" fmla="*/ 446317 h 623327"/>
              <a:gd name="connsiteX17" fmla="*/ 59114 w 588303"/>
              <a:gd name="connsiteY17" fmla="*/ 446694 h 623327"/>
              <a:gd name="connsiteX18" fmla="*/ 62914 w 588303"/>
              <a:gd name="connsiteY18" fmla="*/ 429627 h 623327"/>
              <a:gd name="connsiteX19" fmla="*/ 282418 w 588303"/>
              <a:gd name="connsiteY19" fmla="*/ 15842 h 623327"/>
              <a:gd name="connsiteX20" fmla="*/ 317670 w 588303"/>
              <a:gd name="connsiteY20" fmla="*/ 16595 h 623327"/>
              <a:gd name="connsiteX21" fmla="*/ 576579 w 588303"/>
              <a:gd name="connsiteY21" fmla="*/ 502074 h 623327"/>
              <a:gd name="connsiteX22" fmla="*/ 559983 w 588303"/>
              <a:gd name="connsiteY22" fmla="*/ 581718 h 623327"/>
              <a:gd name="connsiteX23" fmla="*/ 331837 w 588303"/>
              <a:gd name="connsiteY23" fmla="*/ 594237 h 623327"/>
              <a:gd name="connsiteX24" fmla="*/ 274108 w 588303"/>
              <a:gd name="connsiteY24" fmla="*/ 563898 h 623327"/>
              <a:gd name="connsiteX25" fmla="*/ 86764 w 588303"/>
              <a:gd name="connsiteY25" fmla="*/ 552143 h 623327"/>
              <a:gd name="connsiteX26" fmla="*/ 17981 w 588303"/>
              <a:gd name="connsiteY26" fmla="*/ 582107 h 623327"/>
              <a:gd name="connsiteX27" fmla="*/ 0 w 588303"/>
              <a:gd name="connsiteY27" fmla="*/ 589691 h 623327"/>
              <a:gd name="connsiteX28" fmla="*/ 0 w 588303"/>
              <a:gd name="connsiteY28" fmla="*/ 589691 h 623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588303" h="623327">
                <a:moveTo>
                  <a:pt x="0" y="589691"/>
                </a:moveTo>
                <a:cubicBezTo>
                  <a:pt x="50816" y="486905"/>
                  <a:pt x="143452" y="439499"/>
                  <a:pt x="229874" y="460357"/>
                </a:cubicBezTo>
                <a:cubicBezTo>
                  <a:pt x="258555" y="467175"/>
                  <a:pt x="285520" y="483111"/>
                  <a:pt x="313183" y="494867"/>
                </a:cubicBezTo>
                <a:cubicBezTo>
                  <a:pt x="340835" y="506620"/>
                  <a:pt x="368141" y="521790"/>
                  <a:pt x="396835" y="528999"/>
                </a:cubicBezTo>
                <a:cubicBezTo>
                  <a:pt x="417218" y="534312"/>
                  <a:pt x="440040" y="530518"/>
                  <a:pt x="461465" y="527479"/>
                </a:cubicBezTo>
                <a:cubicBezTo>
                  <a:pt x="481172" y="524830"/>
                  <a:pt x="483588" y="516492"/>
                  <a:pt x="473562" y="497530"/>
                </a:cubicBezTo>
                <a:cubicBezTo>
                  <a:pt x="452480" y="457694"/>
                  <a:pt x="431055" y="417873"/>
                  <a:pt x="409961" y="378051"/>
                </a:cubicBezTo>
                <a:cubicBezTo>
                  <a:pt x="409961" y="378051"/>
                  <a:pt x="312485" y="194856"/>
                  <a:pt x="312485" y="194856"/>
                </a:cubicBezTo>
                <a:cubicBezTo>
                  <a:pt x="301771" y="174750"/>
                  <a:pt x="298659" y="175141"/>
                  <a:pt x="287947" y="195233"/>
                </a:cubicBezTo>
                <a:cubicBezTo>
                  <a:pt x="287947" y="195233"/>
                  <a:pt x="210165" y="340880"/>
                  <a:pt x="210165" y="340880"/>
                </a:cubicBezTo>
                <a:cubicBezTo>
                  <a:pt x="207751" y="345427"/>
                  <a:pt x="206022" y="350739"/>
                  <a:pt x="204282" y="354531"/>
                </a:cubicBezTo>
                <a:cubicBezTo>
                  <a:pt x="230903" y="367441"/>
                  <a:pt x="256495" y="378051"/>
                  <a:pt x="281033" y="391702"/>
                </a:cubicBezTo>
                <a:cubicBezTo>
                  <a:pt x="295203" y="399663"/>
                  <a:pt x="307643" y="411432"/>
                  <a:pt x="320095" y="422809"/>
                </a:cubicBezTo>
                <a:cubicBezTo>
                  <a:pt x="325611" y="427732"/>
                  <a:pt x="328038" y="436459"/>
                  <a:pt x="332194" y="443291"/>
                </a:cubicBezTo>
                <a:cubicBezTo>
                  <a:pt x="324925" y="442525"/>
                  <a:pt x="317326" y="443291"/>
                  <a:pt x="310070" y="441394"/>
                </a:cubicBezTo>
                <a:cubicBezTo>
                  <a:pt x="281720" y="434187"/>
                  <a:pt x="253726" y="422809"/>
                  <a:pt x="225033" y="419393"/>
                </a:cubicBezTo>
                <a:cubicBezTo>
                  <a:pt x="173873" y="413327"/>
                  <a:pt x="124443" y="428498"/>
                  <a:pt x="76396" y="446317"/>
                </a:cubicBezTo>
                <a:cubicBezTo>
                  <a:pt x="71211" y="448212"/>
                  <a:pt x="64997" y="446694"/>
                  <a:pt x="59114" y="446694"/>
                </a:cubicBezTo>
                <a:cubicBezTo>
                  <a:pt x="60500" y="441005"/>
                  <a:pt x="60500" y="434562"/>
                  <a:pt x="62914" y="429627"/>
                </a:cubicBezTo>
                <a:cubicBezTo>
                  <a:pt x="135154" y="291577"/>
                  <a:pt x="208793" y="153529"/>
                  <a:pt x="282418" y="15842"/>
                </a:cubicBezTo>
                <a:cubicBezTo>
                  <a:pt x="293817" y="-5783"/>
                  <a:pt x="306271" y="-5016"/>
                  <a:pt x="317670" y="16595"/>
                </a:cubicBezTo>
                <a:cubicBezTo>
                  <a:pt x="404078" y="178556"/>
                  <a:pt x="490157" y="340126"/>
                  <a:pt x="576579" y="502074"/>
                </a:cubicBezTo>
                <a:cubicBezTo>
                  <a:pt x="595578" y="538117"/>
                  <a:pt x="592476" y="560104"/>
                  <a:pt x="559983" y="581718"/>
                </a:cubicBezTo>
                <a:cubicBezTo>
                  <a:pt x="486357" y="631408"/>
                  <a:pt x="409961" y="637851"/>
                  <a:pt x="331837" y="594237"/>
                </a:cubicBezTo>
                <a:cubicBezTo>
                  <a:pt x="312839" y="583613"/>
                  <a:pt x="293130" y="574898"/>
                  <a:pt x="274108" y="563898"/>
                </a:cubicBezTo>
                <a:cubicBezTo>
                  <a:pt x="213278" y="528622"/>
                  <a:pt x="150366" y="528622"/>
                  <a:pt x="86764" y="552143"/>
                </a:cubicBezTo>
                <a:cubicBezTo>
                  <a:pt x="63257" y="560481"/>
                  <a:pt x="40802" y="572235"/>
                  <a:pt x="17981" y="582107"/>
                </a:cubicBezTo>
                <a:cubicBezTo>
                  <a:pt x="13482" y="583990"/>
                  <a:pt x="8996" y="585899"/>
                  <a:pt x="0" y="589691"/>
                </a:cubicBezTo>
                <a:cubicBezTo>
                  <a:pt x="0" y="589691"/>
                  <a:pt x="0" y="589691"/>
                  <a:pt x="0" y="589691"/>
                </a:cubicBezTo>
              </a:path>
            </a:pathLst>
          </a:custGeom>
          <a:solidFill>
            <a:srgbClr val="FFD700"/>
          </a:solidFill>
          <a:ln w="1554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1D1C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5E3643-18C8-BEF9-D242-4BA45F01DF84}"/>
              </a:ext>
            </a:extLst>
          </p:cNvPr>
          <p:cNvSpPr txBox="1"/>
          <p:nvPr/>
        </p:nvSpPr>
        <p:spPr>
          <a:xfrm>
            <a:off x="6700462" y="6272675"/>
            <a:ext cx="117030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AWS CodePipeline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43F8F4-DE6D-B6CB-BB75-F4F29392CA27}"/>
              </a:ext>
            </a:extLst>
          </p:cNvPr>
          <p:cNvSpPr txBox="1"/>
          <p:nvPr/>
        </p:nvSpPr>
        <p:spPr>
          <a:xfrm>
            <a:off x="5746027" y="6266328"/>
            <a:ext cx="109829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AWS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CodeCommit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 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A0FA4F0-F39A-F34A-6228-9B50A495413D}"/>
              </a:ext>
            </a:extLst>
          </p:cNvPr>
          <p:cNvCxnSpPr>
            <a:cxnSpLocks/>
          </p:cNvCxnSpPr>
          <p:nvPr/>
        </p:nvCxnSpPr>
        <p:spPr>
          <a:xfrm flipV="1">
            <a:off x="6845602" y="5184042"/>
            <a:ext cx="450000" cy="0"/>
          </a:xfrm>
          <a:prstGeom prst="straightConnector1">
            <a:avLst/>
          </a:prstGeom>
          <a:ln w="6350">
            <a:solidFill>
              <a:schemeClr val="bg1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D3A0C48-D8E0-5757-309B-68400EB576C0}"/>
              </a:ext>
            </a:extLst>
          </p:cNvPr>
          <p:cNvCxnSpPr>
            <a:cxnSpLocks/>
          </p:cNvCxnSpPr>
          <p:nvPr/>
        </p:nvCxnSpPr>
        <p:spPr>
          <a:xfrm flipV="1">
            <a:off x="7823696" y="5181230"/>
            <a:ext cx="450000" cy="0"/>
          </a:xfrm>
          <a:prstGeom prst="straightConnector1">
            <a:avLst/>
          </a:prstGeom>
          <a:ln w="6350">
            <a:solidFill>
              <a:schemeClr val="bg1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3F28C5B-F0C6-0574-81D0-FBFB56DCC0E1}"/>
              </a:ext>
            </a:extLst>
          </p:cNvPr>
          <p:cNvGrpSpPr/>
          <p:nvPr/>
        </p:nvGrpSpPr>
        <p:grpSpPr>
          <a:xfrm>
            <a:off x="3645032" y="4276052"/>
            <a:ext cx="5883978" cy="2234457"/>
            <a:chOff x="3494432" y="4149125"/>
            <a:chExt cx="6656855" cy="206834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7254838-D801-15B0-0F11-BD2ECED08904}"/>
                </a:ext>
              </a:extLst>
            </p:cNvPr>
            <p:cNvSpPr/>
            <p:nvPr/>
          </p:nvSpPr>
          <p:spPr>
            <a:xfrm>
              <a:off x="3494432" y="5558543"/>
              <a:ext cx="6656855" cy="658927"/>
            </a:xfrm>
            <a:prstGeom prst="rect">
              <a:avLst/>
            </a:prstGeom>
            <a:noFill/>
            <a:ln w="9525">
              <a:solidFill>
                <a:schemeClr val="tx1">
                  <a:lumMod val="90000"/>
                  <a:lumOff val="1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GB" sz="1200" b="1" u="none" strike="noStrike" kern="1200" cap="none" spc="0" normalizeH="0" baseline="0" noProof="0" dirty="0">
                  <a:ln>
                    <a:noFill/>
                  </a:ln>
                  <a:solidFill>
                    <a:srgbClr val="19105B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Version control &amp; CICD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GB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(Team collaboration,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Automated release between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environments)</a:t>
              </a:r>
              <a:endParaRPr kumimoji="0" lang="en-IN" sz="1000" b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C3744F9-5C26-E600-9696-C165C9B73767}"/>
                </a:ext>
              </a:extLst>
            </p:cNvPr>
            <p:cNvSpPr/>
            <p:nvPr/>
          </p:nvSpPr>
          <p:spPr>
            <a:xfrm>
              <a:off x="3494432" y="4149125"/>
              <a:ext cx="6656855" cy="653360"/>
            </a:xfrm>
            <a:prstGeom prst="rect">
              <a:avLst/>
            </a:prstGeom>
            <a:noFill/>
            <a:ln w="9525">
              <a:solidFill>
                <a:schemeClr val="tx1">
                  <a:lumMod val="90000"/>
                  <a:lumOff val="1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GB" sz="1200" b="1" u="none" strike="noStrike" kern="1200" cap="none" spc="0" normalizeH="0" baseline="0" noProof="0" dirty="0">
                  <a:ln>
                    <a:noFill/>
                  </a:ln>
                  <a:solidFill>
                    <a:srgbClr val="19105B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Storage</a:t>
              </a:r>
              <a:br>
                <a:rPr kumimoji="0" lang="en-GB" sz="1000" b="1" u="none" strike="noStrike" kern="1200" cap="none" spc="0" normalizeH="0" baseline="0" noProof="0" dirty="0">
                  <a:ln>
                    <a:noFill/>
                  </a:ln>
                  <a:solidFill>
                    <a:srgbClr val="19105B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</a:br>
              <a:r>
                <a:rPr kumimoji="0" lang="en-GB" sz="1000" b="1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(</a:t>
              </a: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ACID Transactions,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Time travel, Schema Evolution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&amp; Audit Logging)</a:t>
              </a:r>
              <a:endParaRPr kumimoji="0" lang="en-IN" sz="1000" b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endParaRPr kumimoji="0" lang="en-GB" sz="1000" b="1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41351F1-2F19-BFF1-56DB-AFCFCE51B8FE}"/>
                </a:ext>
              </a:extLst>
            </p:cNvPr>
            <p:cNvSpPr/>
            <p:nvPr/>
          </p:nvSpPr>
          <p:spPr>
            <a:xfrm>
              <a:off x="3494432" y="4835786"/>
              <a:ext cx="6656855" cy="675989"/>
            </a:xfrm>
            <a:prstGeom prst="rect">
              <a:avLst/>
            </a:prstGeom>
            <a:noFill/>
            <a:ln w="9525">
              <a:solidFill>
                <a:schemeClr val="tx1">
                  <a:lumMod val="90000"/>
                  <a:lumOff val="1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GB" sz="1200" b="1" u="none" strike="noStrike" kern="1200" cap="none" spc="0" normalizeH="0" baseline="0" noProof="0" dirty="0">
                  <a:ln>
                    <a:noFill/>
                  </a:ln>
                  <a:solidFill>
                    <a:srgbClr val="19105B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Security</a:t>
              </a:r>
              <a:r>
                <a:rPr kumimoji="0" lang="en-GB" sz="1200" b="1" u="none" strike="noStrike" kern="1200" cap="none" spc="0" normalizeH="0" baseline="0" noProof="0" dirty="0">
                  <a:ln>
                    <a:noFill/>
                  </a:ln>
                  <a:solidFill>
                    <a:srgbClr val="19105B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 and monitoring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GB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(</a:t>
              </a: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Observability,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Security and access control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of platform)</a:t>
              </a:r>
              <a:endParaRPr kumimoji="0" lang="en-IN" sz="1000" b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4F2B6102-AEBF-1C90-5557-878ECCF28338}"/>
              </a:ext>
            </a:extLst>
          </p:cNvPr>
          <p:cNvSpPr txBox="1"/>
          <p:nvPr/>
        </p:nvSpPr>
        <p:spPr>
          <a:xfrm>
            <a:off x="5593345" y="5482726"/>
            <a:ext cx="1252615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AWS Secrets Manager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BF0C2B-402A-97EB-5149-C8B8B466C7BB}"/>
              </a:ext>
            </a:extLst>
          </p:cNvPr>
          <p:cNvSpPr txBox="1"/>
          <p:nvPr/>
        </p:nvSpPr>
        <p:spPr>
          <a:xfrm>
            <a:off x="6711513" y="5480755"/>
            <a:ext cx="10973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AWS CloudWatch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F5323B5-6D75-FFDE-D567-E9BD6DDD8B8A}"/>
              </a:ext>
            </a:extLst>
          </p:cNvPr>
          <p:cNvSpPr txBox="1"/>
          <p:nvPr/>
        </p:nvSpPr>
        <p:spPr>
          <a:xfrm>
            <a:off x="7871823" y="5485616"/>
            <a:ext cx="786527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AWS Shield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E71E9C5-297E-88CF-B1BF-7D5F67870E88}"/>
              </a:ext>
            </a:extLst>
          </p:cNvPr>
          <p:cNvGrpSpPr/>
          <p:nvPr/>
        </p:nvGrpSpPr>
        <p:grpSpPr>
          <a:xfrm>
            <a:off x="7599468" y="4387627"/>
            <a:ext cx="1551306" cy="419022"/>
            <a:chOff x="7424223" y="4118307"/>
            <a:chExt cx="1551306" cy="419022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45DD8A5E-4566-3681-BA6A-6A12132E12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24223" y="4118307"/>
              <a:ext cx="514534" cy="419022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21C7119-0718-B1F7-9DC9-5613BB7B0221}"/>
                </a:ext>
              </a:extLst>
            </p:cNvPr>
            <p:cNvSpPr txBox="1"/>
            <p:nvPr/>
          </p:nvSpPr>
          <p:spPr>
            <a:xfrm>
              <a:off x="7943298" y="4223485"/>
              <a:ext cx="103223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19105B"/>
                  </a:solidFill>
                  <a:latin typeface="Arial"/>
                  <a:cs typeface="Arial"/>
                </a:rPr>
                <a:t>Delta Lake</a:t>
              </a:r>
              <a:endParaRPr lang="en-IN" sz="1000" dirty="0">
                <a:solidFill>
                  <a:srgbClr val="19105B"/>
                </a:solidFill>
                <a:latin typeface="Arial"/>
                <a:cs typeface="Arial"/>
              </a:endParaRP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00A279BB-3DCC-A207-6852-0607625E77D5}"/>
              </a:ext>
            </a:extLst>
          </p:cNvPr>
          <p:cNvSpPr txBox="1"/>
          <p:nvPr/>
        </p:nvSpPr>
        <p:spPr>
          <a:xfrm>
            <a:off x="4195961" y="3152407"/>
            <a:ext cx="980505" cy="2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D2BD9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Bronze</a:t>
            </a:r>
            <a:endParaRPr kumimoji="0" lang="en-IN" sz="1000" b="1" i="0" u="none" strike="noStrike" kern="1200" cap="none" spc="0" normalizeH="0" baseline="0" noProof="0" dirty="0">
              <a:ln>
                <a:noFill/>
              </a:ln>
              <a:solidFill>
                <a:srgbClr val="D2BD9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Graphic 17">
            <a:extLst>
              <a:ext uri="{FF2B5EF4-FFF2-40B4-BE49-F238E27FC236}">
                <a16:creationId xmlns:a16="http://schemas.microsoft.com/office/drawing/2014/main" id="{751785E2-DB9C-FC7D-09A9-68EF6D73C951}"/>
              </a:ext>
            </a:extLst>
          </p:cNvPr>
          <p:cNvSpPr/>
          <p:nvPr/>
        </p:nvSpPr>
        <p:spPr>
          <a:xfrm>
            <a:off x="4524213" y="2945080"/>
            <a:ext cx="324000" cy="250324"/>
          </a:xfrm>
          <a:custGeom>
            <a:avLst/>
            <a:gdLst>
              <a:gd name="connsiteX0" fmla="*/ 0 w 588303"/>
              <a:gd name="connsiteY0" fmla="*/ 589691 h 623327"/>
              <a:gd name="connsiteX1" fmla="*/ 229874 w 588303"/>
              <a:gd name="connsiteY1" fmla="*/ 460357 h 623327"/>
              <a:gd name="connsiteX2" fmla="*/ 313183 w 588303"/>
              <a:gd name="connsiteY2" fmla="*/ 494867 h 623327"/>
              <a:gd name="connsiteX3" fmla="*/ 396835 w 588303"/>
              <a:gd name="connsiteY3" fmla="*/ 528999 h 623327"/>
              <a:gd name="connsiteX4" fmla="*/ 461465 w 588303"/>
              <a:gd name="connsiteY4" fmla="*/ 527479 h 623327"/>
              <a:gd name="connsiteX5" fmla="*/ 473562 w 588303"/>
              <a:gd name="connsiteY5" fmla="*/ 497530 h 623327"/>
              <a:gd name="connsiteX6" fmla="*/ 409961 w 588303"/>
              <a:gd name="connsiteY6" fmla="*/ 378051 h 623327"/>
              <a:gd name="connsiteX7" fmla="*/ 312485 w 588303"/>
              <a:gd name="connsiteY7" fmla="*/ 194856 h 623327"/>
              <a:gd name="connsiteX8" fmla="*/ 287947 w 588303"/>
              <a:gd name="connsiteY8" fmla="*/ 195233 h 623327"/>
              <a:gd name="connsiteX9" fmla="*/ 210165 w 588303"/>
              <a:gd name="connsiteY9" fmla="*/ 340880 h 623327"/>
              <a:gd name="connsiteX10" fmla="*/ 204282 w 588303"/>
              <a:gd name="connsiteY10" fmla="*/ 354531 h 623327"/>
              <a:gd name="connsiteX11" fmla="*/ 281033 w 588303"/>
              <a:gd name="connsiteY11" fmla="*/ 391702 h 623327"/>
              <a:gd name="connsiteX12" fmla="*/ 320095 w 588303"/>
              <a:gd name="connsiteY12" fmla="*/ 422809 h 623327"/>
              <a:gd name="connsiteX13" fmla="*/ 332194 w 588303"/>
              <a:gd name="connsiteY13" fmla="*/ 443291 h 623327"/>
              <a:gd name="connsiteX14" fmla="*/ 310070 w 588303"/>
              <a:gd name="connsiteY14" fmla="*/ 441394 h 623327"/>
              <a:gd name="connsiteX15" fmla="*/ 225033 w 588303"/>
              <a:gd name="connsiteY15" fmla="*/ 419393 h 623327"/>
              <a:gd name="connsiteX16" fmla="*/ 76396 w 588303"/>
              <a:gd name="connsiteY16" fmla="*/ 446317 h 623327"/>
              <a:gd name="connsiteX17" fmla="*/ 59114 w 588303"/>
              <a:gd name="connsiteY17" fmla="*/ 446694 h 623327"/>
              <a:gd name="connsiteX18" fmla="*/ 62914 w 588303"/>
              <a:gd name="connsiteY18" fmla="*/ 429627 h 623327"/>
              <a:gd name="connsiteX19" fmla="*/ 282418 w 588303"/>
              <a:gd name="connsiteY19" fmla="*/ 15842 h 623327"/>
              <a:gd name="connsiteX20" fmla="*/ 317670 w 588303"/>
              <a:gd name="connsiteY20" fmla="*/ 16595 h 623327"/>
              <a:gd name="connsiteX21" fmla="*/ 576579 w 588303"/>
              <a:gd name="connsiteY21" fmla="*/ 502074 h 623327"/>
              <a:gd name="connsiteX22" fmla="*/ 559983 w 588303"/>
              <a:gd name="connsiteY22" fmla="*/ 581718 h 623327"/>
              <a:gd name="connsiteX23" fmla="*/ 331837 w 588303"/>
              <a:gd name="connsiteY23" fmla="*/ 594237 h 623327"/>
              <a:gd name="connsiteX24" fmla="*/ 274108 w 588303"/>
              <a:gd name="connsiteY24" fmla="*/ 563898 h 623327"/>
              <a:gd name="connsiteX25" fmla="*/ 86764 w 588303"/>
              <a:gd name="connsiteY25" fmla="*/ 552143 h 623327"/>
              <a:gd name="connsiteX26" fmla="*/ 17981 w 588303"/>
              <a:gd name="connsiteY26" fmla="*/ 582107 h 623327"/>
              <a:gd name="connsiteX27" fmla="*/ 0 w 588303"/>
              <a:gd name="connsiteY27" fmla="*/ 589691 h 623327"/>
              <a:gd name="connsiteX28" fmla="*/ 0 w 588303"/>
              <a:gd name="connsiteY28" fmla="*/ 589691 h 623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588303" h="623327">
                <a:moveTo>
                  <a:pt x="0" y="589691"/>
                </a:moveTo>
                <a:cubicBezTo>
                  <a:pt x="50816" y="486905"/>
                  <a:pt x="143452" y="439499"/>
                  <a:pt x="229874" y="460357"/>
                </a:cubicBezTo>
                <a:cubicBezTo>
                  <a:pt x="258555" y="467175"/>
                  <a:pt x="285520" y="483111"/>
                  <a:pt x="313183" y="494867"/>
                </a:cubicBezTo>
                <a:cubicBezTo>
                  <a:pt x="340835" y="506620"/>
                  <a:pt x="368141" y="521790"/>
                  <a:pt x="396835" y="528999"/>
                </a:cubicBezTo>
                <a:cubicBezTo>
                  <a:pt x="417218" y="534312"/>
                  <a:pt x="440040" y="530518"/>
                  <a:pt x="461465" y="527479"/>
                </a:cubicBezTo>
                <a:cubicBezTo>
                  <a:pt x="481172" y="524830"/>
                  <a:pt x="483588" y="516492"/>
                  <a:pt x="473562" y="497530"/>
                </a:cubicBezTo>
                <a:cubicBezTo>
                  <a:pt x="452480" y="457694"/>
                  <a:pt x="431055" y="417873"/>
                  <a:pt x="409961" y="378051"/>
                </a:cubicBezTo>
                <a:cubicBezTo>
                  <a:pt x="409961" y="378051"/>
                  <a:pt x="312485" y="194856"/>
                  <a:pt x="312485" y="194856"/>
                </a:cubicBezTo>
                <a:cubicBezTo>
                  <a:pt x="301771" y="174750"/>
                  <a:pt x="298659" y="175141"/>
                  <a:pt x="287947" y="195233"/>
                </a:cubicBezTo>
                <a:cubicBezTo>
                  <a:pt x="287947" y="195233"/>
                  <a:pt x="210165" y="340880"/>
                  <a:pt x="210165" y="340880"/>
                </a:cubicBezTo>
                <a:cubicBezTo>
                  <a:pt x="207751" y="345427"/>
                  <a:pt x="206022" y="350739"/>
                  <a:pt x="204282" y="354531"/>
                </a:cubicBezTo>
                <a:cubicBezTo>
                  <a:pt x="230903" y="367441"/>
                  <a:pt x="256495" y="378051"/>
                  <a:pt x="281033" y="391702"/>
                </a:cubicBezTo>
                <a:cubicBezTo>
                  <a:pt x="295203" y="399663"/>
                  <a:pt x="307643" y="411432"/>
                  <a:pt x="320095" y="422809"/>
                </a:cubicBezTo>
                <a:cubicBezTo>
                  <a:pt x="325611" y="427732"/>
                  <a:pt x="328038" y="436459"/>
                  <a:pt x="332194" y="443291"/>
                </a:cubicBezTo>
                <a:cubicBezTo>
                  <a:pt x="324925" y="442525"/>
                  <a:pt x="317326" y="443291"/>
                  <a:pt x="310070" y="441394"/>
                </a:cubicBezTo>
                <a:cubicBezTo>
                  <a:pt x="281720" y="434187"/>
                  <a:pt x="253726" y="422809"/>
                  <a:pt x="225033" y="419393"/>
                </a:cubicBezTo>
                <a:cubicBezTo>
                  <a:pt x="173873" y="413327"/>
                  <a:pt x="124443" y="428498"/>
                  <a:pt x="76396" y="446317"/>
                </a:cubicBezTo>
                <a:cubicBezTo>
                  <a:pt x="71211" y="448212"/>
                  <a:pt x="64997" y="446694"/>
                  <a:pt x="59114" y="446694"/>
                </a:cubicBezTo>
                <a:cubicBezTo>
                  <a:pt x="60500" y="441005"/>
                  <a:pt x="60500" y="434562"/>
                  <a:pt x="62914" y="429627"/>
                </a:cubicBezTo>
                <a:cubicBezTo>
                  <a:pt x="135154" y="291577"/>
                  <a:pt x="208793" y="153529"/>
                  <a:pt x="282418" y="15842"/>
                </a:cubicBezTo>
                <a:cubicBezTo>
                  <a:pt x="293817" y="-5783"/>
                  <a:pt x="306271" y="-5016"/>
                  <a:pt x="317670" y="16595"/>
                </a:cubicBezTo>
                <a:cubicBezTo>
                  <a:pt x="404078" y="178556"/>
                  <a:pt x="490157" y="340126"/>
                  <a:pt x="576579" y="502074"/>
                </a:cubicBezTo>
                <a:cubicBezTo>
                  <a:pt x="595578" y="538117"/>
                  <a:pt x="592476" y="560104"/>
                  <a:pt x="559983" y="581718"/>
                </a:cubicBezTo>
                <a:cubicBezTo>
                  <a:pt x="486357" y="631408"/>
                  <a:pt x="409961" y="637851"/>
                  <a:pt x="331837" y="594237"/>
                </a:cubicBezTo>
                <a:cubicBezTo>
                  <a:pt x="312839" y="583613"/>
                  <a:pt x="293130" y="574898"/>
                  <a:pt x="274108" y="563898"/>
                </a:cubicBezTo>
                <a:cubicBezTo>
                  <a:pt x="213278" y="528622"/>
                  <a:pt x="150366" y="528622"/>
                  <a:pt x="86764" y="552143"/>
                </a:cubicBezTo>
                <a:cubicBezTo>
                  <a:pt x="63257" y="560481"/>
                  <a:pt x="40802" y="572235"/>
                  <a:pt x="17981" y="582107"/>
                </a:cubicBezTo>
                <a:cubicBezTo>
                  <a:pt x="13482" y="583990"/>
                  <a:pt x="8996" y="585899"/>
                  <a:pt x="0" y="589691"/>
                </a:cubicBezTo>
                <a:cubicBezTo>
                  <a:pt x="0" y="589691"/>
                  <a:pt x="0" y="589691"/>
                  <a:pt x="0" y="589691"/>
                </a:cubicBezTo>
              </a:path>
            </a:pathLst>
          </a:custGeom>
          <a:solidFill>
            <a:srgbClr val="D2BD9E"/>
          </a:solidFill>
          <a:ln w="1554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1D1C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D3AF418-6363-D31E-D4DC-026EDB3C4E57}"/>
              </a:ext>
            </a:extLst>
          </p:cNvPr>
          <p:cNvSpPr txBox="1"/>
          <p:nvPr/>
        </p:nvSpPr>
        <p:spPr>
          <a:xfrm>
            <a:off x="5966818" y="3155640"/>
            <a:ext cx="980505" cy="2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Silver</a:t>
            </a:r>
            <a:endParaRPr kumimoji="0" lang="en-IN" sz="1000" b="1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6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Graphic 22">
            <a:extLst>
              <a:ext uri="{FF2B5EF4-FFF2-40B4-BE49-F238E27FC236}">
                <a16:creationId xmlns:a16="http://schemas.microsoft.com/office/drawing/2014/main" id="{C30C2724-9C92-BCB8-935E-4A98086791A4}"/>
              </a:ext>
            </a:extLst>
          </p:cNvPr>
          <p:cNvSpPr/>
          <p:nvPr/>
        </p:nvSpPr>
        <p:spPr>
          <a:xfrm>
            <a:off x="6295070" y="2948313"/>
            <a:ext cx="324000" cy="250324"/>
          </a:xfrm>
          <a:custGeom>
            <a:avLst/>
            <a:gdLst>
              <a:gd name="connsiteX0" fmla="*/ 0 w 588303"/>
              <a:gd name="connsiteY0" fmla="*/ 589691 h 623327"/>
              <a:gd name="connsiteX1" fmla="*/ 229874 w 588303"/>
              <a:gd name="connsiteY1" fmla="*/ 460357 h 623327"/>
              <a:gd name="connsiteX2" fmla="*/ 313183 w 588303"/>
              <a:gd name="connsiteY2" fmla="*/ 494867 h 623327"/>
              <a:gd name="connsiteX3" fmla="*/ 396835 w 588303"/>
              <a:gd name="connsiteY3" fmla="*/ 528999 h 623327"/>
              <a:gd name="connsiteX4" fmla="*/ 461465 w 588303"/>
              <a:gd name="connsiteY4" fmla="*/ 527479 h 623327"/>
              <a:gd name="connsiteX5" fmla="*/ 473562 w 588303"/>
              <a:gd name="connsiteY5" fmla="*/ 497530 h 623327"/>
              <a:gd name="connsiteX6" fmla="*/ 409961 w 588303"/>
              <a:gd name="connsiteY6" fmla="*/ 378051 h 623327"/>
              <a:gd name="connsiteX7" fmla="*/ 312485 w 588303"/>
              <a:gd name="connsiteY7" fmla="*/ 194856 h 623327"/>
              <a:gd name="connsiteX8" fmla="*/ 287947 w 588303"/>
              <a:gd name="connsiteY8" fmla="*/ 195233 h 623327"/>
              <a:gd name="connsiteX9" fmla="*/ 210165 w 588303"/>
              <a:gd name="connsiteY9" fmla="*/ 340880 h 623327"/>
              <a:gd name="connsiteX10" fmla="*/ 204282 w 588303"/>
              <a:gd name="connsiteY10" fmla="*/ 354531 h 623327"/>
              <a:gd name="connsiteX11" fmla="*/ 281033 w 588303"/>
              <a:gd name="connsiteY11" fmla="*/ 391702 h 623327"/>
              <a:gd name="connsiteX12" fmla="*/ 320095 w 588303"/>
              <a:gd name="connsiteY12" fmla="*/ 422809 h 623327"/>
              <a:gd name="connsiteX13" fmla="*/ 332194 w 588303"/>
              <a:gd name="connsiteY13" fmla="*/ 443291 h 623327"/>
              <a:gd name="connsiteX14" fmla="*/ 310070 w 588303"/>
              <a:gd name="connsiteY14" fmla="*/ 441394 h 623327"/>
              <a:gd name="connsiteX15" fmla="*/ 225033 w 588303"/>
              <a:gd name="connsiteY15" fmla="*/ 419393 h 623327"/>
              <a:gd name="connsiteX16" fmla="*/ 76396 w 588303"/>
              <a:gd name="connsiteY16" fmla="*/ 446317 h 623327"/>
              <a:gd name="connsiteX17" fmla="*/ 59114 w 588303"/>
              <a:gd name="connsiteY17" fmla="*/ 446694 h 623327"/>
              <a:gd name="connsiteX18" fmla="*/ 62914 w 588303"/>
              <a:gd name="connsiteY18" fmla="*/ 429627 h 623327"/>
              <a:gd name="connsiteX19" fmla="*/ 282418 w 588303"/>
              <a:gd name="connsiteY19" fmla="*/ 15842 h 623327"/>
              <a:gd name="connsiteX20" fmla="*/ 317670 w 588303"/>
              <a:gd name="connsiteY20" fmla="*/ 16595 h 623327"/>
              <a:gd name="connsiteX21" fmla="*/ 576579 w 588303"/>
              <a:gd name="connsiteY21" fmla="*/ 502074 h 623327"/>
              <a:gd name="connsiteX22" fmla="*/ 559983 w 588303"/>
              <a:gd name="connsiteY22" fmla="*/ 581718 h 623327"/>
              <a:gd name="connsiteX23" fmla="*/ 331837 w 588303"/>
              <a:gd name="connsiteY23" fmla="*/ 594237 h 623327"/>
              <a:gd name="connsiteX24" fmla="*/ 274108 w 588303"/>
              <a:gd name="connsiteY24" fmla="*/ 563898 h 623327"/>
              <a:gd name="connsiteX25" fmla="*/ 86764 w 588303"/>
              <a:gd name="connsiteY25" fmla="*/ 552143 h 623327"/>
              <a:gd name="connsiteX26" fmla="*/ 17981 w 588303"/>
              <a:gd name="connsiteY26" fmla="*/ 582107 h 623327"/>
              <a:gd name="connsiteX27" fmla="*/ 0 w 588303"/>
              <a:gd name="connsiteY27" fmla="*/ 589691 h 623327"/>
              <a:gd name="connsiteX28" fmla="*/ 0 w 588303"/>
              <a:gd name="connsiteY28" fmla="*/ 589691 h 623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588303" h="623327">
                <a:moveTo>
                  <a:pt x="0" y="589691"/>
                </a:moveTo>
                <a:cubicBezTo>
                  <a:pt x="50816" y="486905"/>
                  <a:pt x="143452" y="439499"/>
                  <a:pt x="229874" y="460357"/>
                </a:cubicBezTo>
                <a:cubicBezTo>
                  <a:pt x="258555" y="467175"/>
                  <a:pt x="285520" y="483111"/>
                  <a:pt x="313183" y="494867"/>
                </a:cubicBezTo>
                <a:cubicBezTo>
                  <a:pt x="340835" y="506620"/>
                  <a:pt x="368141" y="521790"/>
                  <a:pt x="396835" y="528999"/>
                </a:cubicBezTo>
                <a:cubicBezTo>
                  <a:pt x="417218" y="534312"/>
                  <a:pt x="440040" y="530518"/>
                  <a:pt x="461465" y="527479"/>
                </a:cubicBezTo>
                <a:cubicBezTo>
                  <a:pt x="481172" y="524830"/>
                  <a:pt x="483588" y="516492"/>
                  <a:pt x="473562" y="497530"/>
                </a:cubicBezTo>
                <a:cubicBezTo>
                  <a:pt x="452480" y="457694"/>
                  <a:pt x="431055" y="417873"/>
                  <a:pt x="409961" y="378051"/>
                </a:cubicBezTo>
                <a:cubicBezTo>
                  <a:pt x="409961" y="378051"/>
                  <a:pt x="312485" y="194856"/>
                  <a:pt x="312485" y="194856"/>
                </a:cubicBezTo>
                <a:cubicBezTo>
                  <a:pt x="301771" y="174750"/>
                  <a:pt x="298659" y="175141"/>
                  <a:pt x="287947" y="195233"/>
                </a:cubicBezTo>
                <a:cubicBezTo>
                  <a:pt x="287947" y="195233"/>
                  <a:pt x="210165" y="340880"/>
                  <a:pt x="210165" y="340880"/>
                </a:cubicBezTo>
                <a:cubicBezTo>
                  <a:pt x="207751" y="345427"/>
                  <a:pt x="206022" y="350739"/>
                  <a:pt x="204282" y="354531"/>
                </a:cubicBezTo>
                <a:cubicBezTo>
                  <a:pt x="230903" y="367441"/>
                  <a:pt x="256495" y="378051"/>
                  <a:pt x="281033" y="391702"/>
                </a:cubicBezTo>
                <a:cubicBezTo>
                  <a:pt x="295203" y="399663"/>
                  <a:pt x="307643" y="411432"/>
                  <a:pt x="320095" y="422809"/>
                </a:cubicBezTo>
                <a:cubicBezTo>
                  <a:pt x="325611" y="427732"/>
                  <a:pt x="328038" y="436459"/>
                  <a:pt x="332194" y="443291"/>
                </a:cubicBezTo>
                <a:cubicBezTo>
                  <a:pt x="324925" y="442525"/>
                  <a:pt x="317326" y="443291"/>
                  <a:pt x="310070" y="441394"/>
                </a:cubicBezTo>
                <a:cubicBezTo>
                  <a:pt x="281720" y="434187"/>
                  <a:pt x="253726" y="422809"/>
                  <a:pt x="225033" y="419393"/>
                </a:cubicBezTo>
                <a:cubicBezTo>
                  <a:pt x="173873" y="413327"/>
                  <a:pt x="124443" y="428498"/>
                  <a:pt x="76396" y="446317"/>
                </a:cubicBezTo>
                <a:cubicBezTo>
                  <a:pt x="71211" y="448212"/>
                  <a:pt x="64997" y="446694"/>
                  <a:pt x="59114" y="446694"/>
                </a:cubicBezTo>
                <a:cubicBezTo>
                  <a:pt x="60500" y="441005"/>
                  <a:pt x="60500" y="434562"/>
                  <a:pt x="62914" y="429627"/>
                </a:cubicBezTo>
                <a:cubicBezTo>
                  <a:pt x="135154" y="291577"/>
                  <a:pt x="208793" y="153529"/>
                  <a:pt x="282418" y="15842"/>
                </a:cubicBezTo>
                <a:cubicBezTo>
                  <a:pt x="293817" y="-5783"/>
                  <a:pt x="306271" y="-5016"/>
                  <a:pt x="317670" y="16595"/>
                </a:cubicBezTo>
                <a:cubicBezTo>
                  <a:pt x="404078" y="178556"/>
                  <a:pt x="490157" y="340126"/>
                  <a:pt x="576579" y="502074"/>
                </a:cubicBezTo>
                <a:cubicBezTo>
                  <a:pt x="595578" y="538117"/>
                  <a:pt x="592476" y="560104"/>
                  <a:pt x="559983" y="581718"/>
                </a:cubicBezTo>
                <a:cubicBezTo>
                  <a:pt x="486357" y="631408"/>
                  <a:pt x="409961" y="637851"/>
                  <a:pt x="331837" y="594237"/>
                </a:cubicBezTo>
                <a:cubicBezTo>
                  <a:pt x="312839" y="583613"/>
                  <a:pt x="293130" y="574898"/>
                  <a:pt x="274108" y="563898"/>
                </a:cubicBezTo>
                <a:cubicBezTo>
                  <a:pt x="213278" y="528622"/>
                  <a:pt x="150366" y="528622"/>
                  <a:pt x="86764" y="552143"/>
                </a:cubicBezTo>
                <a:cubicBezTo>
                  <a:pt x="63257" y="560481"/>
                  <a:pt x="40802" y="572235"/>
                  <a:pt x="17981" y="582107"/>
                </a:cubicBezTo>
                <a:cubicBezTo>
                  <a:pt x="13482" y="583990"/>
                  <a:pt x="8996" y="585899"/>
                  <a:pt x="0" y="589691"/>
                </a:cubicBezTo>
                <a:cubicBezTo>
                  <a:pt x="0" y="589691"/>
                  <a:pt x="0" y="589691"/>
                  <a:pt x="0" y="589691"/>
                </a:cubicBezTo>
              </a:path>
            </a:pathLst>
          </a:custGeom>
          <a:solidFill>
            <a:srgbClr val="D5DDE0"/>
          </a:solidFill>
          <a:ln w="1554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1D1C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38" name="Group 37" descr="AWS Cloud group with AWS logo.">
            <a:extLst>
              <a:ext uri="{FF2B5EF4-FFF2-40B4-BE49-F238E27FC236}">
                <a16:creationId xmlns:a16="http://schemas.microsoft.com/office/drawing/2014/main" id="{A7AE2B62-63B1-D574-A7C4-F50B22E99BE1}"/>
              </a:ext>
            </a:extLst>
          </p:cNvPr>
          <p:cNvGrpSpPr/>
          <p:nvPr/>
        </p:nvGrpSpPr>
        <p:grpSpPr>
          <a:xfrm>
            <a:off x="1859496" y="1212333"/>
            <a:ext cx="8914200" cy="5471706"/>
            <a:chOff x="355600" y="1512745"/>
            <a:chExt cx="1765300" cy="890588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8238E3C-2A48-A0EA-E9BF-E5D1DA55D819}"/>
                </a:ext>
              </a:extLst>
            </p:cNvPr>
            <p:cNvSpPr/>
            <p:nvPr/>
          </p:nvSpPr>
          <p:spPr>
            <a:xfrm>
              <a:off x="355600" y="1512745"/>
              <a:ext cx="1765300" cy="890588"/>
            </a:xfrm>
            <a:prstGeom prst="rect">
              <a:avLst/>
            </a:prstGeom>
            <a:noFill/>
            <a:ln w="1587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0" name="Graphic 39" descr="AWS Cloud group icon with AWS logo.">
              <a:extLst>
                <a:ext uri="{FF2B5EF4-FFF2-40B4-BE49-F238E27FC236}">
                  <a16:creationId xmlns:a16="http://schemas.microsoft.com/office/drawing/2014/main" id="{AB08B3D4-8D8C-D992-E1A0-96D7D6D2F7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355600" y="1512745"/>
              <a:ext cx="46287" cy="46287"/>
            </a:xfrm>
            <a:prstGeom prst="rect">
              <a:avLst/>
            </a:prstGeom>
          </p:spPr>
        </p:pic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63DC1FDE-0A73-1790-F3C0-9B50AFCACC63}"/>
              </a:ext>
            </a:extLst>
          </p:cNvPr>
          <p:cNvSpPr txBox="1"/>
          <p:nvPr/>
        </p:nvSpPr>
        <p:spPr>
          <a:xfrm>
            <a:off x="2039354" y="1100982"/>
            <a:ext cx="10680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</a:t>
            </a: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Cloud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9E5AC5-17BB-E98A-195E-DEF96885145C}"/>
              </a:ext>
            </a:extLst>
          </p:cNvPr>
          <p:cNvSpPr txBox="1"/>
          <p:nvPr/>
        </p:nvSpPr>
        <p:spPr>
          <a:xfrm>
            <a:off x="2270766" y="1529877"/>
            <a:ext cx="1710203" cy="25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Virtual private cloud (VPC)</a:t>
            </a:r>
          </a:p>
        </p:txBody>
      </p:sp>
      <p:pic>
        <p:nvPicPr>
          <p:cNvPr id="43" name="Graphic 8" descr="Amazon Simple Storage Service (Amazon S3) service icon.">
            <a:extLst>
              <a:ext uri="{FF2B5EF4-FFF2-40B4-BE49-F238E27FC236}">
                <a16:creationId xmlns:a16="http://schemas.microsoft.com/office/drawing/2014/main" id="{B6E6DEB3-6755-F8AB-B866-B8AA616469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 bwMode="auto">
          <a:xfrm>
            <a:off x="6002717" y="4465442"/>
            <a:ext cx="380780" cy="380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" name="TextBox 9">
            <a:extLst>
              <a:ext uri="{FF2B5EF4-FFF2-40B4-BE49-F238E27FC236}">
                <a16:creationId xmlns:a16="http://schemas.microsoft.com/office/drawing/2014/main" id="{CDDB8B41-8335-6147-FB2D-10E5BF9FA4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76417" y="4380078"/>
            <a:ext cx="127237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00" dirty="0">
                <a:solidFill>
                  <a:srgbClr val="19105B"/>
                </a:solidFill>
                <a:latin typeface="Arial"/>
                <a:cs typeface="Arial"/>
              </a:rPr>
              <a:t>Amazon Simple Storage Service (Amazon S3)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3A4D019-0203-B8EA-F59C-3A35279011C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1892" y="2283982"/>
            <a:ext cx="1221569" cy="336610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C97FAE17-9844-1EAB-382D-5DC552378202}"/>
              </a:ext>
            </a:extLst>
          </p:cNvPr>
          <p:cNvGrpSpPr/>
          <p:nvPr/>
        </p:nvGrpSpPr>
        <p:grpSpPr>
          <a:xfrm>
            <a:off x="10909629" y="3058909"/>
            <a:ext cx="919700" cy="966150"/>
            <a:chOff x="8607744" y="1670810"/>
            <a:chExt cx="694711" cy="698559"/>
          </a:xfrm>
        </p:grpSpPr>
        <p:pic>
          <p:nvPicPr>
            <p:cNvPr id="47" name="Picture 18">
              <a:extLst>
                <a:ext uri="{FF2B5EF4-FFF2-40B4-BE49-F238E27FC236}">
                  <a16:creationId xmlns:a16="http://schemas.microsoft.com/office/drawing/2014/main" id="{3AD74513-27F2-923E-D86B-9654696ED8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8607744" y="1670810"/>
              <a:ext cx="694711" cy="4351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0951D9D-3D2C-69E6-FB68-76FE395DB5EF}"/>
                </a:ext>
              </a:extLst>
            </p:cNvPr>
            <p:cNvSpPr/>
            <p:nvPr/>
          </p:nvSpPr>
          <p:spPr>
            <a:xfrm>
              <a:off x="8666476" y="2229620"/>
              <a:ext cx="577247" cy="139749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algn="ctr">
                <a:buClr>
                  <a:schemeClr val="accent1"/>
                </a:buClr>
                <a:buSzPct val="120000"/>
              </a:pPr>
              <a:endParaRPr lang="en-GB" sz="900" b="1" dirty="0"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E581C3A8-8BC5-8AFB-1F55-FC532CF91C8E}"/>
              </a:ext>
            </a:extLst>
          </p:cNvPr>
          <p:cNvSpPr txBox="1"/>
          <p:nvPr/>
        </p:nvSpPr>
        <p:spPr>
          <a:xfrm>
            <a:off x="262623" y="2516376"/>
            <a:ext cx="13981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API Endpoint</a:t>
            </a:r>
          </a:p>
        </p:txBody>
      </p:sp>
      <p:pic>
        <p:nvPicPr>
          <p:cNvPr id="51" name="Graphic 50" descr="NAT gateway resource icon for the Amazon VPC service.&#10;">
            <a:extLst>
              <a:ext uri="{FF2B5EF4-FFF2-40B4-BE49-F238E27FC236}">
                <a16:creationId xmlns:a16="http://schemas.microsoft.com/office/drawing/2014/main" id="{00F9AAE0-0759-2A65-36D5-FF713CD5C42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47459" y="3647474"/>
            <a:ext cx="339969" cy="339969"/>
          </a:xfrm>
          <a:prstGeom prst="rect">
            <a:avLst/>
          </a:prstGeom>
        </p:spPr>
      </p:pic>
      <p:pic>
        <p:nvPicPr>
          <p:cNvPr id="52" name="Graphic 6" descr="AWS Glue service icon.">
            <a:extLst>
              <a:ext uri="{FF2B5EF4-FFF2-40B4-BE49-F238E27FC236}">
                <a16:creationId xmlns:a16="http://schemas.microsoft.com/office/drawing/2014/main" id="{1961B949-8EB5-B5ED-A08E-8A5306912F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 bwMode="auto">
          <a:xfrm>
            <a:off x="6365006" y="3679211"/>
            <a:ext cx="331252" cy="3312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3" name="TextBox 10">
            <a:extLst>
              <a:ext uri="{FF2B5EF4-FFF2-40B4-BE49-F238E27FC236}">
                <a16:creationId xmlns:a16="http://schemas.microsoft.com/office/drawing/2014/main" id="{374C595E-1A6A-0FDB-8F4B-2FAAC64752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9692" y="3987568"/>
            <a:ext cx="145607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00" dirty="0">
                <a:solidFill>
                  <a:srgbClr val="19105B"/>
                </a:solidFill>
                <a:latin typeface="Arial"/>
                <a:cs typeface="Arial"/>
              </a:rPr>
              <a:t>AWS</a:t>
            </a:r>
            <a:r>
              <a:rPr lang="en-US" altLang="en-US" sz="10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1000" dirty="0">
                <a:solidFill>
                  <a:srgbClr val="19105B"/>
                </a:solidFill>
                <a:latin typeface="Arial"/>
                <a:cs typeface="Arial"/>
              </a:rPr>
              <a:t>Glue</a:t>
            </a:r>
          </a:p>
        </p:txBody>
      </p:sp>
      <p:pic>
        <p:nvPicPr>
          <p:cNvPr id="54" name="Graphic 17" descr="AWS Secrets Manager service icon.">
            <a:extLst>
              <a:ext uri="{FF2B5EF4-FFF2-40B4-BE49-F238E27FC236}">
                <a16:creationId xmlns:a16="http://schemas.microsoft.com/office/drawing/2014/main" id="{9C79F725-3777-D80E-3EBF-6872C1DEBD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 bwMode="auto">
          <a:xfrm>
            <a:off x="6048124" y="5149234"/>
            <a:ext cx="307288" cy="307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5" name="Graphic 21" descr="AWS CodeCommit service icon.">
            <a:extLst>
              <a:ext uri="{FF2B5EF4-FFF2-40B4-BE49-F238E27FC236}">
                <a16:creationId xmlns:a16="http://schemas.microsoft.com/office/drawing/2014/main" id="{CF6DF2FA-451F-6CE9-6E6F-AFCFB4FA2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 bwMode="auto">
          <a:xfrm>
            <a:off x="6086076" y="5801017"/>
            <a:ext cx="353710" cy="3537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6" name="Graphic 6" descr="AWS CodePipeline service icon.">
            <a:extLst>
              <a:ext uri="{FF2B5EF4-FFF2-40B4-BE49-F238E27FC236}">
                <a16:creationId xmlns:a16="http://schemas.microsoft.com/office/drawing/2014/main" id="{5314C2E5-DE7E-F109-D870-A73BDC098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 bwMode="auto">
          <a:xfrm>
            <a:off x="7045056" y="5876642"/>
            <a:ext cx="367624" cy="3676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7" name="Graphic 19" descr="AWS CodeBuild service icon.">
            <a:extLst>
              <a:ext uri="{FF2B5EF4-FFF2-40B4-BE49-F238E27FC236}">
                <a16:creationId xmlns:a16="http://schemas.microsoft.com/office/drawing/2014/main" id="{C6A5F69B-4456-97FD-5EBC-0659C5A23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 bwMode="auto">
          <a:xfrm>
            <a:off x="8114001" y="5872614"/>
            <a:ext cx="367623" cy="3676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" name="TextBox 11">
            <a:extLst>
              <a:ext uri="{FF2B5EF4-FFF2-40B4-BE49-F238E27FC236}">
                <a16:creationId xmlns:a16="http://schemas.microsoft.com/office/drawing/2014/main" id="{9FFD9D8F-E4FA-8D54-CB4E-6BFA77928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6516" y="6256851"/>
            <a:ext cx="1170308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800" dirty="0">
                <a:solidFill>
                  <a:srgbClr val="19105B"/>
                </a:solidFill>
                <a:latin typeface="Arial"/>
                <a:cs typeface="Arial"/>
              </a:rPr>
              <a:t>AWS CodeBuild</a:t>
            </a:r>
          </a:p>
        </p:txBody>
      </p:sp>
      <p:pic>
        <p:nvPicPr>
          <p:cNvPr id="59" name="Graphic 17" descr="Amazon CloudWatch service icon.">
            <a:extLst>
              <a:ext uri="{FF2B5EF4-FFF2-40B4-BE49-F238E27FC236}">
                <a16:creationId xmlns:a16="http://schemas.microsoft.com/office/drawing/2014/main" id="{E3646039-B067-5DFF-A652-4D64911B6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/>
          <a:stretch/>
        </p:blipFill>
        <p:spPr bwMode="auto">
          <a:xfrm>
            <a:off x="7018403" y="5105132"/>
            <a:ext cx="340488" cy="340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Graphic 22" descr="AWS Shield service icon.">
            <a:extLst>
              <a:ext uri="{FF2B5EF4-FFF2-40B4-BE49-F238E27FC236}">
                <a16:creationId xmlns:a16="http://schemas.microsoft.com/office/drawing/2014/main" id="{A3589DCC-A39E-36BE-9F6B-10072882E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 bwMode="auto">
          <a:xfrm>
            <a:off x="8055750" y="5123735"/>
            <a:ext cx="348066" cy="3480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7338356-457F-C8F1-0FD9-77CED423CEB7}"/>
              </a:ext>
            </a:extLst>
          </p:cNvPr>
          <p:cNvCxnSpPr>
            <a:cxnSpLocks/>
          </p:cNvCxnSpPr>
          <p:nvPr/>
        </p:nvCxnSpPr>
        <p:spPr>
          <a:xfrm flipV="1">
            <a:off x="1194696" y="3370058"/>
            <a:ext cx="1000861" cy="8212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D6DB31F2-063F-B5F5-3349-043443B25CC4}"/>
              </a:ext>
            </a:extLst>
          </p:cNvPr>
          <p:cNvCxnSpPr>
            <a:cxnSpLocks/>
          </p:cNvCxnSpPr>
          <p:nvPr/>
        </p:nvCxnSpPr>
        <p:spPr>
          <a:xfrm flipH="1">
            <a:off x="3168480" y="3345166"/>
            <a:ext cx="557872" cy="0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Graphic 14" descr="Amazon Athena service icon.">
            <a:extLst>
              <a:ext uri="{FF2B5EF4-FFF2-40B4-BE49-F238E27FC236}">
                <a16:creationId xmlns:a16="http://schemas.microsoft.com/office/drawing/2014/main" id="{5269F921-1C8D-3DAE-2B7E-3443CF0093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 bwMode="auto">
          <a:xfrm>
            <a:off x="9997251" y="3187919"/>
            <a:ext cx="359405" cy="3594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5" name="TextBox 17">
            <a:extLst>
              <a:ext uri="{FF2B5EF4-FFF2-40B4-BE49-F238E27FC236}">
                <a16:creationId xmlns:a16="http://schemas.microsoft.com/office/drawing/2014/main" id="{16C68EA7-99D3-0B89-627C-C056B4DD1B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06551" y="3583068"/>
            <a:ext cx="1116052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00" dirty="0">
                <a:solidFill>
                  <a:srgbClr val="19105B"/>
                </a:solidFill>
                <a:latin typeface="Arial"/>
                <a:cs typeface="Arial"/>
              </a:rPr>
              <a:t>Amazon Athena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C719FFD-21CA-21A5-463D-4C9E3098878D}"/>
              </a:ext>
            </a:extLst>
          </p:cNvPr>
          <p:cNvCxnSpPr>
            <a:cxnSpLocks/>
          </p:cNvCxnSpPr>
          <p:nvPr/>
        </p:nvCxnSpPr>
        <p:spPr>
          <a:xfrm flipH="1">
            <a:off x="10404731" y="3378709"/>
            <a:ext cx="404613" cy="2344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5BC433-7D1B-4F73-B3CA-B4960F7A77C8}"/>
              </a:ext>
            </a:extLst>
          </p:cNvPr>
          <p:cNvCxnSpPr>
            <a:cxnSpLocks/>
          </p:cNvCxnSpPr>
          <p:nvPr/>
        </p:nvCxnSpPr>
        <p:spPr>
          <a:xfrm flipV="1">
            <a:off x="6536509" y="3371395"/>
            <a:ext cx="1683836" cy="98410"/>
          </a:xfrm>
          <a:prstGeom prst="bentConnector2">
            <a:avLst/>
          </a:prstGeom>
          <a:ln w="6350">
            <a:solidFill>
              <a:srgbClr val="002060"/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F8E4136B-CD97-6145-B6B4-4D2AF7521A49}"/>
              </a:ext>
            </a:extLst>
          </p:cNvPr>
          <p:cNvCxnSpPr>
            <a:cxnSpLocks/>
            <a:endCxn id="34" idx="2"/>
          </p:cNvCxnSpPr>
          <p:nvPr/>
        </p:nvCxnSpPr>
        <p:spPr>
          <a:xfrm rot="10800000">
            <a:off x="4686215" y="3384238"/>
            <a:ext cx="1874657" cy="77979"/>
          </a:xfrm>
          <a:prstGeom prst="bentConnector2">
            <a:avLst/>
          </a:prstGeom>
          <a:ln w="6350">
            <a:solidFill>
              <a:srgbClr val="002060"/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54E9BD5-3F03-53F3-3F34-46BCBC08830E}"/>
              </a:ext>
            </a:extLst>
          </p:cNvPr>
          <p:cNvSpPr txBox="1"/>
          <p:nvPr/>
        </p:nvSpPr>
        <p:spPr>
          <a:xfrm>
            <a:off x="10868722" y="1865015"/>
            <a:ext cx="11873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196"/>
              </a:buClr>
              <a:buSzPct val="120000"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Reporting</a:t>
            </a:r>
          </a:p>
        </p:txBody>
      </p:sp>
      <p:grpSp>
        <p:nvGrpSpPr>
          <p:cNvPr id="3" name="Group 2" descr="Public subnet group.">
            <a:extLst>
              <a:ext uri="{FF2B5EF4-FFF2-40B4-BE49-F238E27FC236}">
                <a16:creationId xmlns:a16="http://schemas.microsoft.com/office/drawing/2014/main" id="{C07BDB8B-09FF-3013-CF9B-3A2AA601EFDA}"/>
              </a:ext>
            </a:extLst>
          </p:cNvPr>
          <p:cNvGrpSpPr/>
          <p:nvPr/>
        </p:nvGrpSpPr>
        <p:grpSpPr>
          <a:xfrm>
            <a:off x="2039354" y="2739877"/>
            <a:ext cx="1364957" cy="1282353"/>
            <a:chOff x="6147454" y="2618865"/>
            <a:chExt cx="1765300" cy="889002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EA1566A9-88C0-A450-7C38-6BB73333BAEF}"/>
                </a:ext>
              </a:extLst>
            </p:cNvPr>
            <p:cNvSpPr/>
            <p:nvPr/>
          </p:nvSpPr>
          <p:spPr>
            <a:xfrm>
              <a:off x="6147454" y="2618865"/>
              <a:ext cx="1765300" cy="889002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 bIns="4572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0" name="Graphic 69" descr="Public subnet group icon. ">
              <a:extLst>
                <a:ext uri="{FF2B5EF4-FFF2-40B4-BE49-F238E27FC236}">
                  <a16:creationId xmlns:a16="http://schemas.microsoft.com/office/drawing/2014/main" id="{768D1595-E885-A3B9-4783-0ACFC92B40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>
              <a:extLst>
                <a:ext uri="{96DAC541-7B7A-43D3-8B79-37D633B846F1}">
                  <asvg:svgBlip xmlns:asvg="http://schemas.microsoft.com/office/drawing/2016/SVG/main" r:embed="rId31"/>
                </a:ext>
              </a:extLst>
            </a:blip>
            <a:srcRect/>
            <a:stretch/>
          </p:blipFill>
          <p:spPr>
            <a:xfrm>
              <a:off x="6147454" y="2618865"/>
              <a:ext cx="242971" cy="242971"/>
            </a:xfrm>
            <a:prstGeom prst="rect">
              <a:avLst/>
            </a:prstGeom>
          </p:spPr>
        </p:pic>
      </p:grpSp>
      <p:pic>
        <p:nvPicPr>
          <p:cNvPr id="72" name="Graphic 10" descr="AWS Lambda service icon.">
            <a:extLst>
              <a:ext uri="{FF2B5EF4-FFF2-40B4-BE49-F238E27FC236}">
                <a16:creationId xmlns:a16="http://schemas.microsoft.com/office/drawing/2014/main" id="{5B530440-BF3D-E2CF-23E1-69A9ED5102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rcRect/>
          <a:stretch/>
        </p:blipFill>
        <p:spPr bwMode="auto">
          <a:xfrm>
            <a:off x="2477604" y="3073436"/>
            <a:ext cx="432906" cy="4329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Graphic 73" descr="Internet resource icon for the General Icons category.">
            <a:extLst>
              <a:ext uri="{FF2B5EF4-FFF2-40B4-BE49-F238E27FC236}">
                <a16:creationId xmlns:a16="http://schemas.microsoft.com/office/drawing/2014/main" id="{7D6CD043-7A91-0872-0DA8-2464FE81227F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658712" y="3106324"/>
            <a:ext cx="457200" cy="457200"/>
          </a:xfrm>
          <a:prstGeom prst="rect">
            <a:avLst/>
          </a:prstGeom>
        </p:spPr>
      </p:pic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56966B8-D6AF-8C1B-8D9E-26C1169BC8A8}"/>
              </a:ext>
            </a:extLst>
          </p:cNvPr>
          <p:cNvCxnSpPr>
            <a:cxnSpLocks/>
          </p:cNvCxnSpPr>
          <p:nvPr/>
        </p:nvCxnSpPr>
        <p:spPr>
          <a:xfrm>
            <a:off x="856403" y="2739877"/>
            <a:ext cx="0" cy="343056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 descr="Private subnet group.">
            <a:extLst>
              <a:ext uri="{FF2B5EF4-FFF2-40B4-BE49-F238E27FC236}">
                <a16:creationId xmlns:a16="http://schemas.microsoft.com/office/drawing/2014/main" id="{7D3BE257-AB60-49DA-F02A-87470AA75981}"/>
              </a:ext>
            </a:extLst>
          </p:cNvPr>
          <p:cNvGrpSpPr/>
          <p:nvPr/>
        </p:nvGrpSpPr>
        <p:grpSpPr>
          <a:xfrm>
            <a:off x="3523618" y="1753461"/>
            <a:ext cx="6034905" cy="3229264"/>
            <a:chOff x="4215623" y="2618865"/>
            <a:chExt cx="1765300" cy="889002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65CA6AC-54F3-A911-6B44-6ACD73ED180E}"/>
                </a:ext>
              </a:extLst>
            </p:cNvPr>
            <p:cNvSpPr/>
            <p:nvPr/>
          </p:nvSpPr>
          <p:spPr>
            <a:xfrm>
              <a:off x="4215623" y="2618865"/>
              <a:ext cx="1765300" cy="889002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 bIns="4572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5" name="Graphic 84" descr="Private subnet group icon. ">
              <a:extLst>
                <a:ext uri="{FF2B5EF4-FFF2-40B4-BE49-F238E27FC236}">
                  <a16:creationId xmlns:a16="http://schemas.microsoft.com/office/drawing/2014/main" id="{02B5FD94-5CD5-D0FA-9D4B-CFD40F71B4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rcRect/>
            <a:stretch/>
          </p:blipFill>
          <p:spPr>
            <a:xfrm>
              <a:off x="4215623" y="2618865"/>
              <a:ext cx="71156" cy="71155"/>
            </a:xfrm>
            <a:prstGeom prst="rect">
              <a:avLst/>
            </a:prstGeom>
          </p:spPr>
        </p:pic>
      </p:grp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775092A-7D22-9BC4-2790-04872405A3B3}"/>
              </a:ext>
            </a:extLst>
          </p:cNvPr>
          <p:cNvCxnSpPr>
            <a:cxnSpLocks/>
          </p:cNvCxnSpPr>
          <p:nvPr/>
        </p:nvCxnSpPr>
        <p:spPr>
          <a:xfrm>
            <a:off x="6503130" y="3405964"/>
            <a:ext cx="0" cy="254809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20">
            <a:extLst>
              <a:ext uri="{FF2B5EF4-FFF2-40B4-BE49-F238E27FC236}">
                <a16:creationId xmlns:a16="http://schemas.microsoft.com/office/drawing/2014/main" id="{818E0FF3-4171-A556-AAEC-33069763C9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7619" y="3521422"/>
            <a:ext cx="1000861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00" dirty="0">
                <a:solidFill>
                  <a:srgbClr val="19105B"/>
                </a:solidFill>
                <a:latin typeface="Arial"/>
                <a:cs typeface="Arial"/>
              </a:rPr>
              <a:t>AWS Lambda</a:t>
            </a:r>
          </a:p>
        </p:txBody>
      </p:sp>
      <p:pic>
        <p:nvPicPr>
          <p:cNvPr id="92" name="Graphic 91" descr="Endpoints resource icon for the Amazon VPC service.&#10;">
            <a:extLst>
              <a:ext uri="{FF2B5EF4-FFF2-40B4-BE49-F238E27FC236}">
                <a16:creationId xmlns:a16="http://schemas.microsoft.com/office/drawing/2014/main" id="{364B6FC9-2A38-0E21-C21F-BC90CE4E2CA2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9197276" y="3196208"/>
            <a:ext cx="383599" cy="383599"/>
          </a:xfrm>
          <a:prstGeom prst="rect">
            <a:avLst/>
          </a:prstGeom>
        </p:spPr>
      </p:pic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60157F15-567F-509D-A767-01EEE5AC0C03}"/>
              </a:ext>
            </a:extLst>
          </p:cNvPr>
          <p:cNvCxnSpPr>
            <a:cxnSpLocks/>
          </p:cNvCxnSpPr>
          <p:nvPr/>
        </p:nvCxnSpPr>
        <p:spPr>
          <a:xfrm flipH="1" flipV="1">
            <a:off x="9472093" y="3368793"/>
            <a:ext cx="477083" cy="12260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8D920A1C-9237-6F1F-C1CD-61D8DBBBAFB7}"/>
              </a:ext>
            </a:extLst>
          </p:cNvPr>
          <p:cNvCxnSpPr>
            <a:cxnSpLocks/>
          </p:cNvCxnSpPr>
          <p:nvPr/>
        </p:nvCxnSpPr>
        <p:spPr>
          <a:xfrm flipH="1" flipV="1">
            <a:off x="6529162" y="4141059"/>
            <a:ext cx="7347" cy="294518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91803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139</Words>
  <Application>Microsoft Office PowerPoint</Application>
  <PresentationFormat>Widescreen</PresentationFormat>
  <Paragraphs>47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Arial (Body)</vt:lpstr>
      <vt:lpstr>Calibri</vt:lpstr>
      <vt:lpstr>Calibri Light</vt:lpstr>
      <vt:lpstr>Segoe UI Semibold</vt:lpstr>
      <vt:lpstr>Office Theme</vt:lpstr>
      <vt:lpstr>AWS Data Platform Architecture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Sulthan</dc:creator>
  <cp:lastModifiedBy>Mohamed Sulthan</cp:lastModifiedBy>
  <cp:revision>3</cp:revision>
  <dcterms:created xsi:type="dcterms:W3CDTF">2026-03-14T00:12:35Z</dcterms:created>
  <dcterms:modified xsi:type="dcterms:W3CDTF">2026-03-14T01:23:11Z</dcterms:modified>
</cp:coreProperties>
</file>